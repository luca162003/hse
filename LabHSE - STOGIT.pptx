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4" r:id="rId6"/>
  </p:sldMasterIdLst>
  <p:notesMasterIdLst>
    <p:notesMasterId r:id="rId34"/>
  </p:notesMasterIdLst>
  <p:sldIdLst>
    <p:sldId id="269" r:id="rId7"/>
    <p:sldId id="306" r:id="rId8"/>
    <p:sldId id="277" r:id="rId9"/>
    <p:sldId id="307" r:id="rId10"/>
    <p:sldId id="308" r:id="rId11"/>
    <p:sldId id="328" r:id="rId12"/>
    <p:sldId id="303" r:id="rId13"/>
    <p:sldId id="295" r:id="rId14"/>
    <p:sldId id="290" r:id="rId15"/>
    <p:sldId id="276" r:id="rId16"/>
    <p:sldId id="315" r:id="rId17"/>
    <p:sldId id="296" r:id="rId18"/>
    <p:sldId id="316" r:id="rId19"/>
    <p:sldId id="297" r:id="rId20"/>
    <p:sldId id="318" r:id="rId21"/>
    <p:sldId id="298" r:id="rId22"/>
    <p:sldId id="319" r:id="rId23"/>
    <p:sldId id="299" r:id="rId24"/>
    <p:sldId id="324" r:id="rId25"/>
    <p:sldId id="300" r:id="rId26"/>
    <p:sldId id="325" r:id="rId27"/>
    <p:sldId id="301" r:id="rId28"/>
    <p:sldId id="326" r:id="rId29"/>
    <p:sldId id="302" r:id="rId30"/>
    <p:sldId id="327" r:id="rId31"/>
    <p:sldId id="314" r:id="rId32"/>
    <p:sldId id="333" r:id="rId3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7E6A4"/>
    <a:srgbClr val="8DD6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45" autoAdjust="0"/>
    <p:restoredTop sz="95268" autoAdjust="0"/>
  </p:normalViewPr>
  <p:slideViewPr>
    <p:cSldViewPr snapToGrid="0">
      <p:cViewPr varScale="1">
        <p:scale>
          <a:sx n="121" d="100"/>
          <a:sy n="121" d="100"/>
        </p:scale>
        <p:origin x="168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548BF-67E9-49F5-B334-4EC6DBDDC198}" type="datetimeFigureOut">
              <a:rPr lang="it-IT" smtClean="0"/>
              <a:t>27/02/26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5A92C-5E69-4DEF-8BD4-F6856D31DB9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5143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1553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41718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2405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00188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70068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6357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8061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3591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43571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21489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AC700-E108-CEB7-396C-709F311D6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3124086-6C8C-149A-B61A-E314B6475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8C0735B-1665-C3C6-D848-D7633E726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48657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33508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D0EAF-EB10-895C-CE52-731BAE6DD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8797C8D-0375-2D6B-B15D-F88DB0604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57D2BEA-C865-BA21-6723-710BBC474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786753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89896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9A07D-17AB-0607-6D24-69DF512C1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F511CC9-9990-0E10-C030-95FEB9753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2D4CE8C-F15C-03EC-1D35-87CC0BC74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456935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105748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78244-5D2F-6EBD-37FB-3DC909DF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3EDB5B9-1BE5-708E-DCCA-500CF728A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CF4C1AA-BAE2-B5CB-76C5-41593B6D4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804718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115581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ED136-EA4E-E10A-2FF6-FE564A8EE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2BB8060-CC6D-A440-CE50-8315E8B67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AAEB940-DC1A-0186-2D53-AB3E5666F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6368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785511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0845-311B-FD0C-D899-BDB42D366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12001DE-856A-8088-1A41-CCBDC6CFE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009B64F-EA45-1F53-BD48-EA0981A8A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837535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311419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807C-AD34-4F8E-EDEF-BF4F4609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AC92AF7-FFE6-AEA1-16C0-050ED880D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98D9F29-B730-BACF-01C3-E857DF111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700417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888045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E73A9-8599-9E1A-8CE6-A9330BF8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879E966-1763-7D0F-9DAE-0B7BC9EE6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4F76CA8-0ECC-C721-2700-B81FAE1F0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12019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34615-0637-87BF-6BAB-479FA92D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B89DB95-0A9F-EA21-5DEB-0835F57D6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C175061-E975-DAF9-5424-FF790BD65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026406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34615-0637-87BF-6BAB-479FA92D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B89DB95-0A9F-EA21-5DEB-0835F57D6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C175061-E975-DAF9-5424-FF790BD65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687291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7" indent="0" algn="ctr">
              <a:buNone/>
              <a:defRPr sz="2000"/>
            </a:lvl2pPr>
            <a:lvl3pPr marL="914353" indent="0" algn="ctr">
              <a:buNone/>
              <a:defRPr sz="1800"/>
            </a:lvl3pPr>
            <a:lvl4pPr marL="1371530" indent="0" algn="ctr">
              <a:buNone/>
              <a:defRPr sz="1600"/>
            </a:lvl4pPr>
            <a:lvl5pPr marL="1828706" indent="0" algn="ctr">
              <a:buNone/>
              <a:defRPr sz="1600"/>
            </a:lvl5pPr>
            <a:lvl6pPr marL="2285883" indent="0" algn="ctr">
              <a:buNone/>
              <a:defRPr sz="1600"/>
            </a:lvl6pPr>
            <a:lvl7pPr marL="2743060" indent="0" algn="ctr">
              <a:buNone/>
              <a:defRPr sz="1600"/>
            </a:lvl7pPr>
            <a:lvl8pPr marL="3200236" indent="0" algn="ctr">
              <a:buNone/>
              <a:defRPr sz="1600"/>
            </a:lvl8pPr>
            <a:lvl9pPr marL="3657413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93552-352B-4945-B972-4E56CFF16A4A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BBE70-6EDF-4B1C-B0D4-DFE0F831287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585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646EA5-C993-44E7-A595-8EB7DF5C158C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97527A-F0F8-4DB5-BB1A-3D5390FE818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279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56CAD4-8049-4244-98FB-D6D6AEAB8236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587DC-2176-46FE-AFFD-67D74BFDF87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8747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A1C62B-0AEC-42CF-8D80-C5410E01D3E2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853746-7BAB-4B4C-BAEB-885D1E289AD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050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41839D-C6A3-410D-9CBF-EA84E7E9C311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3454A7-2E10-4B99-93C5-53D144B5339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522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7EBF7-A27A-43F5-8C46-E6BD31D155D6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B183DF-6751-4C3E-BBA6-8BEAA7402D3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116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05E414-2DDB-45DD-91F9-6857B911C056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F9B1F-59FC-4068-9A25-B14F297B986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865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81E4D7-0C81-4320-ADA6-04D4A925FB81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A1D7E-4DD4-4595-85EE-EC3B4C5ADA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227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3" indent="0">
              <a:buNone/>
              <a:defRPr sz="2400"/>
            </a:lvl3pPr>
            <a:lvl4pPr marL="1371530" indent="0">
              <a:buNone/>
              <a:defRPr sz="2000"/>
            </a:lvl4pPr>
            <a:lvl5pPr marL="1828706" indent="0">
              <a:buNone/>
              <a:defRPr sz="2000"/>
            </a:lvl5pPr>
            <a:lvl6pPr marL="2285883" indent="0">
              <a:buNone/>
              <a:defRPr sz="2000"/>
            </a:lvl6pPr>
            <a:lvl7pPr marL="2743060" indent="0">
              <a:buNone/>
              <a:defRPr sz="2000"/>
            </a:lvl7pPr>
            <a:lvl8pPr marL="3200236" indent="0">
              <a:buNone/>
              <a:defRPr sz="2000"/>
            </a:lvl8pPr>
            <a:lvl9pPr marL="3657413" indent="0">
              <a:buNone/>
              <a:defRPr sz="2000"/>
            </a:lvl9pPr>
          </a:lstStyle>
          <a:p>
            <a:pPr lvl="0"/>
            <a:r>
              <a:rPr lang="it-IT" noProof="0"/>
              <a:t>Fare clic sull'icona per inserire un'immagine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3D85A8-7666-4BA8-A723-A3C723ABE670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5D1FF-2659-4622-B56E-B679B9E39ED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1802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8F70CF-92A9-4909-AF50-6D759786389B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EF9059-F07B-4386-A092-2CBF005F69BE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667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E48476-D9AC-4059-87C3-3EB5A638D463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C37CDC-4BBB-4605-9769-4EF42FBF349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9332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6EF5FF-A59E-45E9-AA87-5A41AB76EC3C}" type="datetimeFigureOut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8DDDC-5484-492F-97FF-00833136481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3517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6EF5FF-A59E-45E9-AA87-5A41AB76EC3C}" type="datetimeFigureOut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8DDDC-5484-492F-97FF-00833136481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33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6EF5FF-A59E-45E9-AA87-5A41AB76EC3C}" type="datetimeFigureOut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8DDDC-5484-492F-97FF-00833136481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389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6EF5FF-A59E-45E9-AA87-5A41AB76EC3C}" type="datetimeFigureOut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8DDDC-5484-492F-97FF-00833136481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4086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6EF5FF-A59E-45E9-AA87-5A41AB76EC3C}" type="datetimeFigureOut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8DDDC-5484-492F-97FF-00833136481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179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6EF5FF-A59E-45E9-AA87-5A41AB76EC3C}" type="datetimeFigureOut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8DDDC-5484-492F-97FF-00833136481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2187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6EF5FF-A59E-45E9-AA87-5A41AB76EC3C}" type="datetimeFigureOut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8DDDC-5484-492F-97FF-00833136481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33579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6EF5FF-A59E-45E9-AA87-5A41AB76EC3C}" type="datetimeFigureOut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8DDDC-5484-492F-97FF-00833136481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73671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6EF5FF-A59E-45E9-AA87-5A41AB76EC3C}" type="datetimeFigureOut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8DDDC-5484-492F-97FF-00833136481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7394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6EF5FF-A59E-45E9-AA87-5A41AB76EC3C}" type="datetimeFigureOut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8DDDC-5484-492F-97FF-00833136481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0415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6EF5FF-A59E-45E9-AA87-5A41AB76EC3C}" type="datetimeFigureOut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8DDDC-5484-492F-97FF-00833136481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88568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93552-352B-4945-B972-4E56CFF16A4A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BBE70-6EDF-4B1C-B0D4-DFE0F83128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04530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646EA5-C993-44E7-A595-8EB7DF5C158C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97527A-F0F8-4DB5-BB1A-3D5390FE81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0168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56CAD4-8049-4244-98FB-D6D6AEAB8236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A587DC-2176-46FE-AFFD-67D74BFDF8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4164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A1C62B-0AEC-42CF-8D80-C5410E01D3E2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853746-7BAB-4B4C-BAEB-885D1E289A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4086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41839D-C6A3-410D-9CBF-EA84E7E9C311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3454A7-2E10-4B99-93C5-53D144B533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45149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7EBF7-A27A-43F5-8C46-E6BD31D155D6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B183DF-6751-4C3E-BBA6-8BEAA7402D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7073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05E414-2DDB-45DD-91F9-6857B911C056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5F9B1F-59FC-4068-9A25-B14F297B98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8900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081E4D7-0C81-4320-ADA6-04D4A925FB81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8A1D7E-4DD4-4595-85EE-EC3B4C5ADA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8704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3D85A8-7666-4BA8-A723-A3C723ABE670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5D1FF-2659-4622-B56E-B679B9E39E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8794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8F70CF-92A9-4909-AF50-6D759786389B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EF9059-F07B-4386-A092-2CBF005F69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007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E48476-D9AC-4059-87C3-3EB5A638D463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C37CDC-4BBB-4605-9769-4EF42FBF34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18404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49" y="365001"/>
            <a:ext cx="10515502" cy="1326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lo stile del titolo</a:t>
            </a:r>
            <a:endParaRPr lang="en-US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49" y="1826122"/>
            <a:ext cx="10515502" cy="4350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stili del testo dello schema</a:t>
            </a:r>
          </a:p>
          <a:p>
            <a:pPr lvl="1"/>
            <a:r>
              <a:rPr lang="it-IT" altLang="en-US"/>
              <a:t>Secondo livello</a:t>
            </a:r>
          </a:p>
          <a:p>
            <a:pPr lvl="2"/>
            <a:r>
              <a:rPr lang="it-IT" altLang="en-US"/>
              <a:t>Terzo livello</a:t>
            </a:r>
          </a:p>
          <a:p>
            <a:pPr lvl="3"/>
            <a:r>
              <a:rPr lang="it-IT" altLang="en-US"/>
              <a:t>Quarto livello</a:t>
            </a:r>
          </a:p>
          <a:p>
            <a:pPr lvl="4"/>
            <a:r>
              <a:rPr lang="it-IT" altLang="en-US"/>
              <a:t>Quinto livello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49" y="6356821"/>
            <a:ext cx="2743563" cy="365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C23656-B6E0-4E7A-83D1-D7AE079CDDF5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+mn-cs"/>
                <a:sym typeface="Gill Sans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27/02/2026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ill Sans" charset="0"/>
              <a:ea typeface="ヒラギノ角ゴ ProN W3" charset="-128"/>
              <a:cs typeface="+mn-cs"/>
              <a:sym typeface="Gill Sans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328" y="6356821"/>
            <a:ext cx="4115344" cy="365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ill Sans" charset="0"/>
              <a:ea typeface="ヒラギノ角ゴ ProN W3" charset="-128"/>
              <a:cs typeface="+mn-cs"/>
              <a:sym typeface="Gill Sans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188" y="6356821"/>
            <a:ext cx="2743563" cy="3650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065605-FFB1-4B0C-A325-EBE6B283AE1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ill Sans" charset="0"/>
                <a:ea typeface="ヒラギノ角ゴ ProN W3" charset="-128"/>
                <a:cs typeface="+mn-cs"/>
                <a:sym typeface="Gill Sans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ill Sans" charset="0"/>
              <a:ea typeface="ヒラギノ角ゴ ProN W3" charset="-128"/>
              <a:cs typeface="+mn-cs"/>
              <a:sym typeface="Gill Sans" charset="0"/>
            </a:endParaRPr>
          </a:p>
        </p:txBody>
      </p:sp>
      <p:pic>
        <p:nvPicPr>
          <p:cNvPr id="2055" name="Picture 11" descr="Footer_management.jpg                                          00004219Scambio                        C4A23297: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0093"/>
            <a:ext cx="12192000" cy="757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757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14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59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414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59">
          <a:solidFill>
            <a:schemeClr val="tx1"/>
          </a:solidFill>
          <a:latin typeface="Calibri Light" panose="020F0302020204030204" pitchFamily="34" charset="0"/>
        </a:defRPr>
      </a:lvl2pPr>
      <a:lvl3pPr algn="l" defTabSz="91414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59">
          <a:solidFill>
            <a:schemeClr val="tx1"/>
          </a:solidFill>
          <a:latin typeface="Calibri Light" panose="020F0302020204030204" pitchFamily="34" charset="0"/>
        </a:defRPr>
      </a:lvl3pPr>
      <a:lvl4pPr algn="l" defTabSz="91414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59">
          <a:solidFill>
            <a:schemeClr val="tx1"/>
          </a:solidFill>
          <a:latin typeface="Calibri Light" panose="020F0302020204030204" pitchFamily="34" charset="0"/>
        </a:defRPr>
      </a:lvl4pPr>
      <a:lvl5pPr algn="l" defTabSz="91414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359">
          <a:solidFill>
            <a:schemeClr val="tx1"/>
          </a:solidFill>
          <a:latin typeface="Calibri Light" panose="020F0302020204030204" pitchFamily="34" charset="0"/>
        </a:defRPr>
      </a:lvl5pPr>
      <a:lvl6pPr marL="321457" algn="l" defTabSz="914145" rtl="0" fontAlgn="base">
        <a:lnSpc>
          <a:spcPct val="90000"/>
        </a:lnSpc>
        <a:spcBef>
          <a:spcPct val="0"/>
        </a:spcBef>
        <a:spcAft>
          <a:spcPct val="0"/>
        </a:spcAft>
        <a:defRPr sz="4359">
          <a:solidFill>
            <a:schemeClr val="tx1"/>
          </a:solidFill>
          <a:latin typeface="Calibri Light" panose="020F0302020204030204" pitchFamily="34" charset="0"/>
        </a:defRPr>
      </a:lvl6pPr>
      <a:lvl7pPr marL="642915" algn="l" defTabSz="914145" rtl="0" fontAlgn="base">
        <a:lnSpc>
          <a:spcPct val="90000"/>
        </a:lnSpc>
        <a:spcBef>
          <a:spcPct val="0"/>
        </a:spcBef>
        <a:spcAft>
          <a:spcPct val="0"/>
        </a:spcAft>
        <a:defRPr sz="4359">
          <a:solidFill>
            <a:schemeClr val="tx1"/>
          </a:solidFill>
          <a:latin typeface="Calibri Light" panose="020F0302020204030204" pitchFamily="34" charset="0"/>
        </a:defRPr>
      </a:lvl7pPr>
      <a:lvl8pPr marL="964372" algn="l" defTabSz="914145" rtl="0" fontAlgn="base">
        <a:lnSpc>
          <a:spcPct val="90000"/>
        </a:lnSpc>
        <a:spcBef>
          <a:spcPct val="0"/>
        </a:spcBef>
        <a:spcAft>
          <a:spcPct val="0"/>
        </a:spcAft>
        <a:defRPr sz="4359">
          <a:solidFill>
            <a:schemeClr val="tx1"/>
          </a:solidFill>
          <a:latin typeface="Calibri Light" panose="020F0302020204030204" pitchFamily="34" charset="0"/>
        </a:defRPr>
      </a:lvl8pPr>
      <a:lvl9pPr marL="1285829" algn="l" defTabSz="914145" rtl="0" fontAlgn="base">
        <a:lnSpc>
          <a:spcPct val="90000"/>
        </a:lnSpc>
        <a:spcBef>
          <a:spcPct val="0"/>
        </a:spcBef>
        <a:spcAft>
          <a:spcPct val="0"/>
        </a:spcAft>
        <a:defRPr sz="4359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7699" indent="-227699" algn="l" defTabSz="914145" rtl="0" eaLnBrk="0" fontAlgn="base" hangingPunct="0">
        <a:lnSpc>
          <a:spcPct val="90000"/>
        </a:lnSpc>
        <a:spcBef>
          <a:spcPts val="1002"/>
        </a:spcBef>
        <a:spcAft>
          <a:spcPct val="0"/>
        </a:spcAft>
        <a:buFont typeface="Arial" panose="020B0604020202020204" pitchFamily="34" charset="0"/>
        <a:buChar char="•"/>
        <a:defRPr sz="2742" kern="1200">
          <a:solidFill>
            <a:schemeClr val="tx1"/>
          </a:solidFill>
          <a:latin typeface="+mn-lt"/>
          <a:ea typeface="+mn-ea"/>
          <a:cs typeface="+mn-cs"/>
        </a:defRPr>
      </a:lvl1pPr>
      <a:lvl2pPr marL="685329" indent="-227699" algn="l" defTabSz="914145" rtl="0" eaLnBrk="0" fontAlgn="base" hangingPunct="0">
        <a:lnSpc>
          <a:spcPct val="90000"/>
        </a:lnSpc>
        <a:spcBef>
          <a:spcPts val="501"/>
        </a:spcBef>
        <a:spcAft>
          <a:spcPct val="0"/>
        </a:spcAft>
        <a:buFont typeface="Arial" panose="020B0604020202020204" pitchFamily="34" charset="0"/>
        <a:buChar char="•"/>
        <a:defRPr sz="2391" kern="1200">
          <a:solidFill>
            <a:schemeClr val="tx1"/>
          </a:solidFill>
          <a:latin typeface="+mn-lt"/>
          <a:ea typeface="+mn-ea"/>
          <a:cs typeface="+mn-cs"/>
        </a:defRPr>
      </a:lvl2pPr>
      <a:lvl3pPr marL="1141844" indent="-227699" algn="l" defTabSz="914145" rtl="0" eaLnBrk="0" fontAlgn="base" hangingPunct="0">
        <a:lnSpc>
          <a:spcPct val="90000"/>
        </a:lnSpc>
        <a:spcBef>
          <a:spcPts val="501"/>
        </a:spcBef>
        <a:spcAft>
          <a:spcPct val="0"/>
        </a:spcAft>
        <a:buFont typeface="Arial" panose="020B0604020202020204" pitchFamily="34" charset="0"/>
        <a:buChar char="•"/>
        <a:defRPr sz="1969" kern="1200">
          <a:solidFill>
            <a:schemeClr val="tx1"/>
          </a:solidFill>
          <a:latin typeface="+mn-lt"/>
          <a:ea typeface="+mn-ea"/>
          <a:cs typeface="+mn-cs"/>
        </a:defRPr>
      </a:lvl3pPr>
      <a:lvl4pPr marL="1599474" indent="-227699" algn="l" defTabSz="914145" rtl="0" eaLnBrk="0" fontAlgn="base" hangingPunct="0">
        <a:lnSpc>
          <a:spcPct val="90000"/>
        </a:lnSpc>
        <a:spcBef>
          <a:spcPts val="501"/>
        </a:spcBef>
        <a:spcAft>
          <a:spcPct val="0"/>
        </a:spcAft>
        <a:buFont typeface="Arial" panose="020B0604020202020204" pitchFamily="34" charset="0"/>
        <a:buChar char="•"/>
        <a:defRPr sz="1758" kern="1200">
          <a:solidFill>
            <a:schemeClr val="tx1"/>
          </a:solidFill>
          <a:latin typeface="+mn-lt"/>
          <a:ea typeface="+mn-ea"/>
          <a:cs typeface="+mn-cs"/>
        </a:defRPr>
      </a:lvl4pPr>
      <a:lvl5pPr marL="2057104" indent="-227699" algn="l" defTabSz="914145" rtl="0" eaLnBrk="0" fontAlgn="base" hangingPunct="0">
        <a:lnSpc>
          <a:spcPct val="90000"/>
        </a:lnSpc>
        <a:spcBef>
          <a:spcPts val="501"/>
        </a:spcBef>
        <a:spcAft>
          <a:spcPct val="0"/>
        </a:spcAft>
        <a:buFont typeface="Arial" panose="020B0604020202020204" pitchFamily="34" charset="0"/>
        <a:buChar char="•"/>
        <a:defRPr sz="1758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1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6EF5FF-A59E-45E9-AA87-5A41AB76EC3C}" type="datetimeFigureOut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8DDDC-5484-492F-97FF-00833136481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7546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E02D71-F95C-4588-B4A7-0AB25453BB65}" type="datetimeFigureOut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27/02/26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B528DE-9525-49E7-BCE7-DFAA0B18AA8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11" descr="Footer_management.jpg                                          00004219Scambio                        C4A23297: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0093"/>
            <a:ext cx="12192000" cy="757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7314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10.jpeg"/><Relationship Id="rId5" Type="http://schemas.openxmlformats.org/officeDocument/2006/relationships/image" Target="../media/image11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30" y="520662"/>
            <a:ext cx="2037131" cy="872068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81" y="5160889"/>
            <a:ext cx="1143945" cy="609779"/>
          </a:xfrm>
          <a:prstGeom prst="rect">
            <a:avLst/>
          </a:prstGeom>
        </p:spPr>
      </p:pic>
      <p:pic>
        <p:nvPicPr>
          <p:cNvPr id="8" name="Immagine 7"/>
          <p:cNvPicPr>
            <a:picLocks noChangeAspect="1"/>
          </p:cNvPicPr>
          <p:nvPr/>
        </p:nvPicPr>
        <p:blipFill rotWithShape="1"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44"/>
          <a:stretch/>
        </p:blipFill>
        <p:spPr>
          <a:xfrm>
            <a:off x="9225887" y="393558"/>
            <a:ext cx="2952861" cy="5902975"/>
          </a:xfrm>
          <a:prstGeom prst="rect">
            <a:avLst/>
          </a:prstGeom>
        </p:spPr>
      </p:pic>
      <p:cxnSp>
        <p:nvCxnSpPr>
          <p:cNvPr id="10" name="Connettore 1 9"/>
          <p:cNvCxnSpPr/>
          <p:nvPr/>
        </p:nvCxnSpPr>
        <p:spPr>
          <a:xfrm>
            <a:off x="590472" y="5743373"/>
            <a:ext cx="972723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36" y="1572720"/>
            <a:ext cx="2882721" cy="1067885"/>
          </a:xfrm>
          <a:prstGeom prst="rect">
            <a:avLst/>
          </a:prstGeom>
        </p:spPr>
      </p:pic>
      <p:sp>
        <p:nvSpPr>
          <p:cNvPr id="2" name="CasellaDiTesto 1"/>
          <p:cNvSpPr txBox="1"/>
          <p:nvPr/>
        </p:nvSpPr>
        <p:spPr>
          <a:xfrm>
            <a:off x="612830" y="2667899"/>
            <a:ext cx="77461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rPr>
              <a:t>Indagine sulla </a:t>
            </a:r>
            <a:r>
              <a:rPr lang="it-IT" sz="7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ova Cond" panose="020B0506020202020204" pitchFamily="34" charset="0"/>
              </a:rPr>
              <a:t>Cultura HSE in STOGIT</a:t>
            </a:r>
            <a:endParaRPr lang="it-IT" sz="9600" b="1" u="sng" dirty="0">
              <a:solidFill>
                <a:schemeClr val="tx1">
                  <a:lumMod val="75000"/>
                  <a:lumOff val="25000"/>
                </a:schemeClr>
              </a:solidFill>
              <a:latin typeface="Arial Nova Cond" panose="020B0506020202020204" pitchFamily="34" charset="0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590472" y="5770668"/>
            <a:ext cx="6965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175812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sp>
        <p:nvSpPr>
          <p:cNvPr id="10" name="CasellaDiTesto 9"/>
          <p:cNvSpPr txBox="1"/>
          <p:nvPr/>
        </p:nvSpPr>
        <p:spPr>
          <a:xfrm>
            <a:off x="504380" y="251981"/>
            <a:ext cx="10030269" cy="658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ova Cond" panose="020B0506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Laboratorio HSE</a:t>
            </a:r>
          </a:p>
        </p:txBody>
      </p:sp>
      <p:cxnSp>
        <p:nvCxnSpPr>
          <p:cNvPr id="12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/>
          <p:cNvSpPr txBox="1"/>
          <p:nvPr/>
        </p:nvSpPr>
        <p:spPr>
          <a:xfrm>
            <a:off x="504380" y="893874"/>
            <a:ext cx="11164456" cy="2298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Il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Laboratorio HSE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è un progetto di approfondimento sui modelli organizzativi </a:t>
            </a:r>
            <a:r>
              <a:rPr kumimoji="0" lang="it-IT" sz="1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Health</a:t>
            </a:r>
            <a:r>
              <a:rPr kumimoji="0" lang="it-IT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 </a:t>
            </a:r>
            <a:r>
              <a:rPr kumimoji="0" lang="it-IT" sz="1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Safety</a:t>
            </a:r>
            <a:r>
              <a:rPr kumimoji="0" lang="it-IT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&amp; Environment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 condotto dall’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Istituto di Management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della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Scuola Superiore Sant’Anna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Dal 2017 ad oggi, le attività del LabHSE si concentrano sullo sviluppo di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strumenti di misurazione e analisi delle prestazioni dei modelli HSE,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volti a supportare le imprese partecipanti nel loro percorso di miglioramento. Tali strumenti sono sviluppati in stretta collaborazione con, e applicati da, numerose realtà aziendali italiane: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23" name="Immagin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967" y="2817699"/>
            <a:ext cx="9628066" cy="314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11483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/>
          <p:cNvSpPr txBox="1"/>
          <p:nvPr/>
        </p:nvSpPr>
        <p:spPr>
          <a:xfrm>
            <a:off x="504381" y="167471"/>
            <a:ext cx="9322199" cy="73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L’indagine</a:t>
            </a:r>
            <a:endParaRPr kumimoji="0" lang="it-IT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38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sp>
        <p:nvSpPr>
          <p:cNvPr id="13" name="CasellaDiTesto 12"/>
          <p:cNvSpPr txBox="1"/>
          <p:nvPr/>
        </p:nvSpPr>
        <p:spPr>
          <a:xfrm>
            <a:off x="504380" y="1092591"/>
            <a:ext cx="1116445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Il report presenta i risultati della </a:t>
            </a:r>
            <a:r>
              <a:rPr lang="it-IT" sz="1400" b="1" dirty="0">
                <a:latin typeface="Arial" panose="020B0604020202020204" pitchFamily="34" charset="0"/>
                <a:cs typeface="Arial" panose="020B0604020202020204" pitchFamily="34" charset="0"/>
              </a:rPr>
              <a:t>rilevazione della Cultura organizzativa percepita in ambito Health, </a:t>
            </a:r>
            <a:r>
              <a:rPr lang="it-IT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Safety</a:t>
            </a:r>
            <a:r>
              <a:rPr lang="it-IT" sz="1400" b="1" dirty="0">
                <a:latin typeface="Arial" panose="020B0604020202020204" pitchFamily="34" charset="0"/>
                <a:cs typeface="Arial" panose="020B0604020202020204" pitchFamily="34" charset="0"/>
              </a:rPr>
              <a:t> &amp; Environment (HSE)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– di seguito Cultura HSE – condotta nell’ambito del Laboratorio HSE della Scuola Superiore Sant’Anna (SSSA), tra gennaio e febbraio 2026. La rilevazione si è servita di un questionario sviluppato in collaborazione con i ricercatori dell’Istituto di Management della SSSA</a:t>
            </a:r>
            <a:r>
              <a:rPr lang="it-IT" sz="1400" b="1" dirty="0">
                <a:latin typeface="Arial Nova" panose="020B05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it-IT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it-IT" sz="1400" b="1" dirty="0">
                <a:latin typeface="Arial" panose="020B0604020202020204" pitchFamily="34" charset="0"/>
                <a:cs typeface="Arial" panose="020B0604020202020204" pitchFamily="34" charset="0"/>
              </a:rPr>
              <a:t>Cos’è la Cultura HSE?</a:t>
            </a:r>
          </a:p>
          <a:p>
            <a:pPr algn="just">
              <a:lnSpc>
                <a:spcPct val="150000"/>
              </a:lnSpc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La Cultura HSE è una componente della cultura organizzativa che si riferisce a valori e credenze, agli individui, ai posti di lavoro e alle caratteristiche organizzative che influenzano la salute e la sicurezza dei dipendenti e l’ambiente. L'obiettivo di una cultura HSE positiva è creare un'atmosfera in cui i dipendenti siano consapevoli e responsabili dei rischi sul loro posto di lavoro, siano costantemente in guardia contro di loro ed evitino di intraprendere azioni non sicure. </a:t>
            </a:r>
          </a:p>
          <a:p>
            <a:pPr algn="just">
              <a:lnSpc>
                <a:spcPct val="150000"/>
              </a:lnSpc>
            </a:pPr>
            <a:endParaRPr lang="it-IT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it-IT" sz="1400" b="1" dirty="0">
                <a:latin typeface="Arial" panose="020B0604020202020204" pitchFamily="34" charset="0"/>
                <a:cs typeface="Arial" panose="020B0604020202020204" pitchFamily="34" charset="0"/>
              </a:rPr>
              <a:t>Come rilevare la Cultura HSE in azienda?</a:t>
            </a:r>
          </a:p>
          <a:p>
            <a:pPr algn="just">
              <a:lnSpc>
                <a:spcPct val="150000"/>
              </a:lnSpc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Lo sviluppo di un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teorico di riferimento per la misurazione della Cultura HSE si è servito di una revisione sistemica della letteratura accademica e di ambito </a:t>
            </a:r>
            <a:r>
              <a:rPr lang="it-IT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practitioner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it-IT" sz="1400" dirty="0" err="1">
                <a:latin typeface="Arial" panose="020B0604020202020204" pitchFamily="34" charset="0"/>
                <a:cs typeface="Arial" panose="020B0604020202020204" pitchFamily="34" charset="0"/>
              </a:rPr>
              <a:t>consulenziale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inerente la definizione e rilevazione della Cultura HSE. La revisione sistemica della letteratura è stata condotta sui principali database di pubblicazioni scientifiche e ha preso in esame 138 pubblicazioni.</a:t>
            </a:r>
          </a:p>
        </p:txBody>
      </p:sp>
    </p:spTree>
    <p:extLst>
      <p:ext uri="{BB962C8B-B14F-4D97-AF65-F5344CB8AC3E}">
        <p14:creationId xmlns:p14="http://schemas.microsoft.com/office/powerpoint/2010/main" val="257656891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sp>
        <p:nvSpPr>
          <p:cNvPr id="8" name="CasellaDiTesto 7"/>
          <p:cNvSpPr txBox="1"/>
          <p:nvPr/>
        </p:nvSpPr>
        <p:spPr>
          <a:xfrm>
            <a:off x="504380" y="230644"/>
            <a:ext cx="10030269" cy="658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ova Cond" panose="020B0506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La misurazione della Cultura HSE</a:t>
            </a:r>
          </a:p>
        </p:txBody>
      </p:sp>
      <p:sp>
        <p:nvSpPr>
          <p:cNvPr id="15" name="Rettangolo 14"/>
          <p:cNvSpPr/>
          <p:nvPr/>
        </p:nvSpPr>
        <p:spPr>
          <a:xfrm>
            <a:off x="504377" y="898009"/>
            <a:ext cx="11164456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L’approccio del LabHSE alla misurazione della Cultura HSE si focalizza sulle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manifestazioni esteriori di una Cultura HSE positiva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– nella forma di pratiche, iniziative, comportamenti, etc. –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sul luogo di lavoro, con l’obiettivo di identificare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ambiti di miglioramento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e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iniziative di rafforzamento mirate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Sulla base della revisione di più di 100 studi scientifici, il LabHSE ha definito un «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modello di misurazione»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o </a:t>
            </a:r>
            <a:r>
              <a:rPr kumimoji="0" lang="it-IT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framework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utile alla definizione della Cultura HSE in aziende caratterizzate da una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gestione HSE «matura»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 il quale si caratterizza per essere: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t-IT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Multi-dimensionale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in quanto prende in esame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 dimensioni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della Cultura HSE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t-IT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Multi-livello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 quanto consente di distinguere tra diversi «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livelli di analisi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», ossia livello organizzativo e di workgroup (supervisore e </a:t>
            </a:r>
            <a:r>
              <a:rPr kumimoji="0" lang="it-IT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coworkers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</a:p>
        </p:txBody>
      </p:sp>
      <p:grpSp>
        <p:nvGrpSpPr>
          <p:cNvPr id="4" name="Gruppo 3"/>
          <p:cNvGrpSpPr/>
          <p:nvPr/>
        </p:nvGrpSpPr>
        <p:grpSpPr>
          <a:xfrm>
            <a:off x="2180370" y="2883168"/>
            <a:ext cx="7812470" cy="3217929"/>
            <a:chOff x="1122200" y="2645880"/>
            <a:chExt cx="9928809" cy="3893464"/>
          </a:xfrm>
        </p:grpSpPr>
        <p:pic>
          <p:nvPicPr>
            <p:cNvPr id="16" name="Immagine 15"/>
            <p:cNvPicPr>
              <a:picLocks noChangeAspect="1"/>
            </p:cNvPicPr>
            <p:nvPr/>
          </p:nvPicPr>
          <p:blipFill rotWithShape="1">
            <a:blip r:embed="rId4"/>
            <a:srcRect b="7885"/>
            <a:stretch/>
          </p:blipFill>
          <p:spPr>
            <a:xfrm>
              <a:off x="1122200" y="2645880"/>
              <a:ext cx="9928809" cy="3893464"/>
            </a:xfrm>
            <a:prstGeom prst="rect">
              <a:avLst/>
            </a:prstGeom>
          </p:spPr>
        </p:pic>
        <p:pic>
          <p:nvPicPr>
            <p:cNvPr id="2" name="Immagine 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09987" y="4216747"/>
              <a:ext cx="1600195" cy="424442"/>
            </a:xfrm>
            <a:prstGeom prst="rect">
              <a:avLst/>
            </a:prstGeom>
            <a:ln>
              <a:noFill/>
            </a:ln>
          </p:spPr>
        </p:pic>
        <p:sp>
          <p:nvSpPr>
            <p:cNvPr id="3" name="Rettangolo 2"/>
            <p:cNvSpPr/>
            <p:nvPr/>
          </p:nvSpPr>
          <p:spPr>
            <a:xfrm>
              <a:off x="3829468" y="4216747"/>
              <a:ext cx="1121223" cy="290597"/>
            </a:xfrm>
            <a:prstGeom prst="rect">
              <a:avLst/>
            </a:prstGeom>
            <a:solidFill>
              <a:srgbClr val="FFFFC5"/>
            </a:solidFill>
            <a:ln>
              <a:solidFill>
                <a:srgbClr val="FFFF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7109671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sellaDiTesto 13"/>
          <p:cNvSpPr txBox="1"/>
          <p:nvPr/>
        </p:nvSpPr>
        <p:spPr>
          <a:xfrm>
            <a:off x="504381" y="876468"/>
            <a:ext cx="11164454" cy="738664"/>
          </a:xfrm>
          <a:prstGeom prst="rect">
            <a:avLst/>
          </a:prstGeom>
          <a:solidFill>
            <a:srgbClr val="EFFDFF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Competenza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si riferisce alla percezione che l’azienda assicuri la presenza delle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necessarie competenze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per svolgere il proprio lavoro in modo sicuro e dell’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efficacia dei programmi di formazione e di addestramento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relativi alla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sicurezza sul lavoro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, alla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gestione ambientale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e alle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abilità lavorative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specifiche richieste dalla mansione.</a:t>
            </a:r>
          </a:p>
        </p:txBody>
      </p:sp>
      <p:cxnSp>
        <p:nvCxnSpPr>
          <p:cNvPr id="38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504381" y="230644"/>
            <a:ext cx="9966395" cy="658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ova Cond" panose="020B0506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Le dimensioni: in quali ambiti si manifesta la Cultura HSE?</a:t>
            </a:r>
          </a:p>
        </p:txBody>
      </p:sp>
      <p:sp>
        <p:nvSpPr>
          <p:cNvPr id="16" name="CasellaDiTesto 15"/>
          <p:cNvSpPr txBox="1"/>
          <p:nvPr/>
        </p:nvSpPr>
        <p:spPr>
          <a:xfrm>
            <a:off x="504381" y="1711501"/>
            <a:ext cx="11164454" cy="697820"/>
          </a:xfrm>
          <a:prstGeom prst="rect">
            <a:avLst/>
          </a:prstGeom>
          <a:solidFill>
            <a:srgbClr val="FFFFC5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Priorità lavorative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si riferisce alla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priorità assegnata alla sicurezza e alla gestione degli aspetti ambientali rispetto agli obiettivi di produzione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o altri obiettivi conflittuali (efficienza, profitto etc.), e alla pressione percepita relativamente al conseguimento degli obiettivi di produzione.</a:t>
            </a:r>
            <a:endParaRPr kumimoji="0" lang="it-IT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CasellaDiTesto 18"/>
          <p:cNvSpPr txBox="1"/>
          <p:nvPr/>
        </p:nvSpPr>
        <p:spPr>
          <a:xfrm>
            <a:off x="504381" y="2506581"/>
            <a:ext cx="11164454" cy="738664"/>
          </a:xfrm>
          <a:prstGeom prst="rect">
            <a:avLst/>
          </a:prstGeom>
          <a:solidFill>
            <a:srgbClr val="FADBC6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Post-</a:t>
            </a: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accident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administration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si riferisce a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ll’efficacia e tempestività della risposta organizzativa ad eventi accidentali o quasi accidentali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(e.g. infortuni, </a:t>
            </a:r>
            <a:r>
              <a:rPr kumimoji="0" lang="it-IT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near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 miss etc.), in particolare in riferimento all’analisi dell’accadimento, alla correzione o trattamento delle cause e all’applicazione delle «</a:t>
            </a:r>
            <a:r>
              <a:rPr kumimoji="0" lang="it-IT" sz="1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lesson</a:t>
            </a:r>
            <a:r>
              <a:rPr kumimoji="0" lang="it-IT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learned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».</a:t>
            </a:r>
            <a:endParaRPr kumimoji="0" lang="it-IT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CasellaDiTesto 19"/>
          <p:cNvSpPr txBox="1"/>
          <p:nvPr/>
        </p:nvSpPr>
        <p:spPr>
          <a:xfrm>
            <a:off x="504381" y="3340348"/>
            <a:ext cx="11164454" cy="415498"/>
          </a:xfrm>
          <a:prstGeom prst="rect">
            <a:avLst/>
          </a:prstGeom>
          <a:solidFill>
            <a:srgbClr val="D7E7F5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Commitment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si riferisce alla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dedizione e attenzione che la direzione,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e l’organizzazione nel suo complesso,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ripone nel miglioramento della performance HSE. 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504381" y="3850949"/>
            <a:ext cx="11164454" cy="738664"/>
          </a:xfrm>
          <a:prstGeom prst="rect">
            <a:avLst/>
          </a:prstGeom>
          <a:solidFill>
            <a:srgbClr val="F2E8F8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Comunicazione aperta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si riferisce a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comunicazione interna e scambio informativo relativamente all’organizzazione del lavoro e degli aspetti HSE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, quali aggiornamenti delle procedure o di aspetti tecnici inerenti la propria mansione, segnalazione di nuovi rischi, feedback o suggerimenti.</a:t>
            </a:r>
          </a:p>
        </p:txBody>
      </p:sp>
      <p:pic>
        <p:nvPicPr>
          <p:cNvPr id="17" name="Immagine 1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sp>
        <p:nvSpPr>
          <p:cNvPr id="15" name="CasellaDiTesto 14"/>
          <p:cNvSpPr txBox="1"/>
          <p:nvPr/>
        </p:nvSpPr>
        <p:spPr>
          <a:xfrm>
            <a:off x="504381" y="4688517"/>
            <a:ext cx="11164454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Coinvolgimento del personale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si riferisce al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coinvolgimento nel </a:t>
            </a: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decision-making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 inerente l’organizzazione del lavoro e la gestione degli aspetti HSE,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nonché agli sforzi organizzativi e della direzione per attuare tale coinvolgimento.</a:t>
            </a:r>
            <a:endParaRPr kumimoji="0" lang="it-IT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CasellaDiTesto 17"/>
          <p:cNvSpPr txBox="1"/>
          <p:nvPr/>
        </p:nvSpPr>
        <p:spPr>
          <a:xfrm>
            <a:off x="504381" y="5526085"/>
            <a:ext cx="11164454" cy="415498"/>
          </a:xfrm>
          <a:prstGeom prst="rect">
            <a:avLst/>
          </a:prstGeom>
          <a:solidFill>
            <a:srgbClr val="FFD5F6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Sistema documentale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si riferisce a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ll’efficacia, chiarezza e completezza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delle procedure aziendali HSE</a:t>
            </a:r>
          </a:p>
        </p:txBody>
      </p:sp>
      <p:sp>
        <p:nvSpPr>
          <p:cNvPr id="21" name="CasellaDiTesto 20"/>
          <p:cNvSpPr txBox="1"/>
          <p:nvPr/>
        </p:nvSpPr>
        <p:spPr>
          <a:xfrm>
            <a:off x="504381" y="6040487"/>
            <a:ext cx="11164454" cy="374654"/>
          </a:xfrm>
          <a:prstGeom prst="rect">
            <a:avLst/>
          </a:prstGeom>
          <a:solidFill>
            <a:srgbClr val="BDDCA8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Percezione della performance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si riferisce alla 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percezione della performance HSE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Arial" panose="020B0604020202020204" pitchFamily="34" charset="0"/>
              </a:rPr>
              <a:t>e alla capacità dell’azienda di fronteggiare eventi inattesi e imprevisti.</a:t>
            </a:r>
          </a:p>
        </p:txBody>
      </p:sp>
    </p:spTree>
    <p:extLst>
      <p:ext uri="{BB962C8B-B14F-4D97-AF65-F5344CB8AC3E}">
        <p14:creationId xmlns:p14="http://schemas.microsoft.com/office/powerpoint/2010/main" val="2959627836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504381" y="230644"/>
            <a:ext cx="9966395" cy="658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ova Cond" panose="020B0506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Come interpretare i risultati?</a:t>
            </a:r>
          </a:p>
        </p:txBody>
      </p:sp>
      <p:pic>
        <p:nvPicPr>
          <p:cNvPr id="17" name="Immagine 1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sp>
        <p:nvSpPr>
          <p:cNvPr id="2" name="Rettangolo 1"/>
          <p:cNvSpPr/>
          <p:nvPr/>
        </p:nvSpPr>
        <p:spPr>
          <a:xfrm>
            <a:off x="504380" y="968944"/>
            <a:ext cx="11164455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prstClr val="black"/>
                </a:solidFill>
                <a:latin typeface="Arial Nova" panose="020B0504020202020204" pitchFamily="34" charset="0"/>
              </a:rPr>
              <a:t>Il </a:t>
            </a:r>
            <a:r>
              <a:rPr lang="it-IT" sz="1200" b="1" dirty="0">
                <a:solidFill>
                  <a:prstClr val="black"/>
                </a:solidFill>
                <a:latin typeface="Arial Nova" panose="020B0504020202020204" pitchFamily="34" charset="0"/>
              </a:rPr>
              <a:t>valore aggregato della Cultura HSE </a:t>
            </a:r>
            <a:r>
              <a:rPr lang="it-IT" sz="1200" dirty="0">
                <a:solidFill>
                  <a:prstClr val="black"/>
                </a:solidFill>
                <a:latin typeface="Arial Nova" panose="020B0504020202020204" pitchFamily="34" charset="0"/>
              </a:rPr>
              <a:t>è calcolato come la media aritmetica delle risposte ai quesiti del questionario nella sua interezza – i.e., tutte le dimensioni e livelli di analisi – al fine di costituire un indice univoco dello stato della Cultura HSE nell’azienda.  Il valore aggregato può assumere valori tra 1 e 6, essendo le domande del questionario basate su scale </a:t>
            </a:r>
            <a:r>
              <a:rPr lang="it-IT" sz="1200" dirty="0" err="1">
                <a:solidFill>
                  <a:prstClr val="black"/>
                </a:solidFill>
                <a:latin typeface="Arial Nova" panose="020B0504020202020204" pitchFamily="34" charset="0"/>
              </a:rPr>
              <a:t>Likert</a:t>
            </a:r>
            <a:r>
              <a:rPr lang="it-IT" sz="1200" dirty="0">
                <a:solidFill>
                  <a:prstClr val="black"/>
                </a:solidFill>
                <a:latin typeface="Arial Nova" panose="020B0504020202020204" pitchFamily="34" charset="0"/>
              </a:rPr>
              <a:t> di accordo a 6 punti (1 = «Totalmente in disaccordo» e 6 = «Totalmente in accordo»). </a:t>
            </a:r>
          </a:p>
          <a:p>
            <a:pPr marL="171450" indent="-1714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prstClr val="black"/>
                </a:solidFill>
                <a:latin typeface="Arial Nova" panose="020B0504020202020204" pitchFamily="34" charset="0"/>
              </a:rPr>
              <a:t>Il </a:t>
            </a:r>
            <a:r>
              <a:rPr lang="it-IT" sz="1200" b="1" dirty="0">
                <a:solidFill>
                  <a:prstClr val="black"/>
                </a:solidFill>
                <a:latin typeface="Arial Nova" panose="020B0504020202020204" pitchFamily="34" charset="0"/>
              </a:rPr>
              <a:t>valore di ogni dimensione della Cultura HSE </a:t>
            </a:r>
            <a:r>
              <a:rPr lang="it-IT" sz="1200" dirty="0">
                <a:solidFill>
                  <a:prstClr val="black"/>
                </a:solidFill>
                <a:latin typeface="Arial Nova" panose="020B0504020202020204" pitchFamily="34" charset="0"/>
              </a:rPr>
              <a:t>è calcolato come la media delle risposte ai quesiti afferenti alla specifica dimensione della Cultura HSE, e può pertanto assumere valori tra 1 e 6. I valori delle dimensioni sono rappresentati in un grafico «a bersaglio» (a fianco), ove ad ogni vertice corrisponde una singola dimensione. E’ possibile in tal modo identificare a prima vista le dimensioni che costituiscono punti di forza o aree di miglioramento.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it-IT" sz="1200" dirty="0">
                <a:solidFill>
                  <a:prstClr val="black"/>
                </a:solidFill>
                <a:latin typeface="Arial Nova" panose="020B0504020202020204" pitchFamily="34" charset="0"/>
              </a:rPr>
              <a:t>Il valore aggregato della Cultura HSE e il valore di ogni dimensione della Cultura HSE può essere interpretato come specificato in Tabella.</a:t>
            </a: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C56EAC56-88D5-7D2E-EDC8-FA1750CFA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893375"/>
              </p:ext>
            </p:extLst>
          </p:nvPr>
        </p:nvGraphicFramePr>
        <p:xfrm>
          <a:off x="2090607" y="3429000"/>
          <a:ext cx="7992000" cy="242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3363423708"/>
                    </a:ext>
                  </a:extLst>
                </a:gridCol>
                <a:gridCol w="2664000">
                  <a:extLst>
                    <a:ext uri="{9D8B030D-6E8A-4147-A177-3AD203B41FA5}">
                      <a16:colId xmlns:a16="http://schemas.microsoft.com/office/drawing/2014/main" val="945409736"/>
                    </a:ext>
                  </a:extLst>
                </a:gridCol>
                <a:gridCol w="2664000">
                  <a:extLst>
                    <a:ext uri="{9D8B030D-6E8A-4147-A177-3AD203B41FA5}">
                      <a16:colId xmlns:a16="http://schemas.microsoft.com/office/drawing/2014/main" val="15528364"/>
                    </a:ext>
                  </a:extLst>
                </a:gridCol>
              </a:tblGrid>
              <a:tr h="365524">
                <a:tc>
                  <a:txBody>
                    <a:bodyPr/>
                    <a:lstStyle/>
                    <a:p>
                      <a:pPr algn="ctr"/>
                      <a:r>
                        <a:rPr lang="it-IT" sz="1400" b="1" dirty="0">
                          <a:latin typeface="Arial Nova" panose="020B0504020202020204" pitchFamily="34" charset="0"/>
                        </a:rPr>
                        <a:t>Valore degli indici (media)</a:t>
                      </a:r>
                      <a:br>
                        <a:rPr lang="it-IT" sz="1400" b="1" dirty="0">
                          <a:latin typeface="Arial Nova" panose="020B0504020202020204" pitchFamily="34" charset="0"/>
                        </a:rPr>
                      </a:br>
                      <a:r>
                        <a:rPr lang="it-IT" sz="1400" dirty="0">
                          <a:latin typeface="Arial Nova" panose="020B0504020202020204" pitchFamily="34" charset="0"/>
                        </a:rPr>
                        <a:t>ad es. valore aggregato della Cultura HSE, valore delle singole dimensioni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dirty="0">
                          <a:latin typeface="Arial Nova" panose="020B0504020202020204" pitchFamily="34" charset="0"/>
                        </a:rPr>
                        <a:t>Come si qualifica il valore</a:t>
                      </a:r>
                      <a:r>
                        <a:rPr lang="it-IT" sz="1400" dirty="0">
                          <a:latin typeface="Arial Nova" panose="020B0504020202020204" pitchFamily="34" charset="0"/>
                        </a:rPr>
                        <a:t>, data la scala di misurazione 1 – 6 utilizzata nel questionario?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dirty="0">
                          <a:latin typeface="Arial Nova" panose="020B0504020202020204" pitchFamily="34" charset="0"/>
                        </a:rPr>
                        <a:t>Come interpretare il valore</a:t>
                      </a:r>
                      <a:r>
                        <a:rPr lang="it-IT" sz="1400" dirty="0">
                          <a:latin typeface="Arial Nova" panose="020B0504020202020204" pitchFamily="34" charset="0"/>
                        </a:rPr>
                        <a:t>, in termini di percezione della Cultura HSE o di una sua dimensione?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933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Arial Nova" panose="020B0504020202020204" pitchFamily="34" charset="0"/>
                        </a:rPr>
                        <a:t>&lt;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Arial Nova" panose="020B0504020202020204" pitchFamily="34" charset="0"/>
                        </a:rPr>
                        <a:t>Basso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Arial Nova" panose="020B0504020202020204" pitchFamily="34" charset="0"/>
                        </a:rPr>
                        <a:t>Migliorabile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163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Arial Nova" panose="020B0504020202020204" pitchFamily="34" charset="0"/>
                        </a:rPr>
                        <a:t>3 – 4,5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Arial Nova" panose="020B0504020202020204" pitchFamily="34" charset="0"/>
                        </a:rPr>
                        <a:t>Medio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Arial Nova" panose="020B0504020202020204" pitchFamily="34" charset="0"/>
                        </a:rPr>
                        <a:t>Mediamente positiva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228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Arial Nova" panose="020B0504020202020204" pitchFamily="34" charset="0"/>
                        </a:rPr>
                        <a:t>4,6 –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Arial Nova" panose="020B0504020202020204" pitchFamily="34" charset="0"/>
                        </a:rPr>
                        <a:t>Medio-alto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Arial Nova" panose="020B0504020202020204" pitchFamily="34" charset="0"/>
                        </a:rPr>
                        <a:t>Positiva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307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Arial Nova" panose="020B0504020202020204" pitchFamily="34" charset="0"/>
                        </a:rPr>
                        <a:t>&gt;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Arial Nova" panose="020B0504020202020204" pitchFamily="34" charset="0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Arial Nova" panose="020B0504020202020204" pitchFamily="34" charset="0"/>
                        </a:rPr>
                        <a:t>Molto positiva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6319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821342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/>
          <p:cNvSpPr txBox="1"/>
          <p:nvPr/>
        </p:nvSpPr>
        <p:spPr>
          <a:xfrm>
            <a:off x="504381" y="167471"/>
            <a:ext cx="9322199" cy="73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Il campione</a:t>
            </a:r>
            <a:endParaRPr kumimoji="0" lang="it-IT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38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sp>
        <p:nvSpPr>
          <p:cNvPr id="13" name="CasellaDiTesto 12"/>
          <p:cNvSpPr txBox="1"/>
          <p:nvPr/>
        </p:nvSpPr>
        <p:spPr>
          <a:xfrm>
            <a:off x="504380" y="981752"/>
            <a:ext cx="11164455" cy="78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t-IT" sz="1600" dirty="0">
                <a:latin typeface="Arial Nova" panose="020B0504020202020204" pitchFamily="34" charset="0"/>
              </a:rPr>
              <a:t>Tra gennaio e febbraio 2026, </a:t>
            </a:r>
            <a:r>
              <a:rPr lang="it-IT" sz="1600" b="1" dirty="0">
                <a:highlight>
                  <a:srgbClr val="FFFF00"/>
                </a:highlight>
                <a:latin typeface="Arial Nova" panose="020B0504020202020204" pitchFamily="34" charset="0"/>
              </a:rPr>
              <a:t>XXX</a:t>
            </a:r>
            <a:r>
              <a:rPr lang="it-IT" sz="1600" b="1" dirty="0">
                <a:latin typeface="Arial Nova" panose="020B0504020202020204" pitchFamily="34" charset="0"/>
              </a:rPr>
              <a:t> persone hanno compilato integralmente il questionario</a:t>
            </a:r>
            <a:r>
              <a:rPr lang="it-IT" sz="1600" dirty="0">
                <a:latin typeface="Arial Nova" panose="020B0504020202020204" pitchFamily="34" charset="0"/>
              </a:rPr>
              <a:t>, e sono oggetto dell’analisi presentata nel report.</a:t>
            </a:r>
          </a:p>
        </p:txBody>
      </p:sp>
    </p:spTree>
    <p:extLst>
      <p:ext uri="{BB962C8B-B14F-4D97-AF65-F5344CB8AC3E}">
        <p14:creationId xmlns:p14="http://schemas.microsoft.com/office/powerpoint/2010/main" val="3264239047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/>
          <p:cNvSpPr txBox="1"/>
          <p:nvPr/>
        </p:nvSpPr>
        <p:spPr>
          <a:xfrm>
            <a:off x="504381" y="167471"/>
            <a:ext cx="9322199" cy="73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La Cultura HSE</a:t>
            </a:r>
            <a:endParaRPr kumimoji="0" lang="it-IT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38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200" y="1418400"/>
            <a:ext cx="5767200" cy="4550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03999" y="1069200"/>
            <a:ext cx="5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F1F1F"/>
                </a:solidFill>
                <a:latin typeface="DejaVu Sans"/>
              </a:rPr>
              <a:t>La Cultura HSE - valore aggregato: 78.25/100</a:t>
            </a:r>
          </a:p>
        </p:txBody>
      </p:sp>
    </p:spTree>
    <p:extLst>
      <p:ext uri="{BB962C8B-B14F-4D97-AF65-F5344CB8AC3E}">
        <p14:creationId xmlns:p14="http://schemas.microsoft.com/office/powerpoint/2010/main" val="384123785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/>
          <p:cNvSpPr txBox="1"/>
          <p:nvPr/>
        </p:nvSpPr>
        <p:spPr>
          <a:xfrm>
            <a:off x="504381" y="167471"/>
            <a:ext cx="9322199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 livelli di analisi: </a:t>
            </a:r>
            <a:r>
              <a:rPr lang="it-IT" sz="32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organizational, </a:t>
            </a:r>
            <a:r>
              <a:rPr lang="it-IT" sz="3200" b="1" i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supevisor</a:t>
            </a:r>
            <a:r>
              <a:rPr lang="it-IT" sz="32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, co-</a:t>
            </a:r>
            <a:r>
              <a:rPr lang="it-IT" sz="3200" b="1" i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worker</a:t>
            </a:r>
            <a:endParaRPr lang="it-IT" sz="3200" b="1" i="1" dirty="0">
              <a:solidFill>
                <a:prstClr val="black">
                  <a:lumMod val="75000"/>
                  <a:lumOff val="25000"/>
                </a:prstClr>
              </a:solidFill>
              <a:latin typeface="Arial Narrow" panose="020B060602020203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38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70000"/>
            <a:ext cx="11260800" cy="451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29238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/>
          <p:cNvSpPr txBox="1"/>
          <p:nvPr/>
        </p:nvSpPr>
        <p:spPr>
          <a:xfrm>
            <a:off x="504381" y="167471"/>
            <a:ext cx="9322199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Comunicazione interna</a:t>
            </a:r>
          </a:p>
        </p:txBody>
      </p:sp>
      <p:cxnSp>
        <p:nvCxnSpPr>
          <p:cNvPr id="38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9" y="1274400"/>
            <a:ext cx="11376000" cy="469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72167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ADF4A-F6EC-87C6-7B6C-A5300ADA1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CD82F377-A83B-31E4-D65F-D0FABB424E0E}"/>
              </a:ext>
            </a:extLst>
          </p:cNvPr>
          <p:cNvSpPr txBox="1"/>
          <p:nvPr/>
        </p:nvSpPr>
        <p:spPr>
          <a:xfrm>
            <a:off x="504381" y="167471"/>
            <a:ext cx="9322199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Analisi per funzione – Comunicazione interna</a:t>
            </a:r>
          </a:p>
        </p:txBody>
      </p:sp>
      <p:cxnSp>
        <p:nvCxnSpPr>
          <p:cNvPr id="38" name="Connettore 1 37">
            <a:extLst>
              <a:ext uri="{FF2B5EF4-FFF2-40B4-BE49-F238E27FC236}">
                <a16:creationId xmlns:a16="http://schemas.microsoft.com/office/drawing/2014/main" id="{C617E3BB-8876-B579-D32C-A61923F60C35}"/>
              </a:ext>
            </a:extLst>
          </p:cNvPr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>
            <a:extLst>
              <a:ext uri="{FF2B5EF4-FFF2-40B4-BE49-F238E27FC236}">
                <a16:creationId xmlns:a16="http://schemas.microsoft.com/office/drawing/2014/main" id="{FFD3C6C0-A734-DDA6-F26E-932F806B7D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55107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/>
          <p:cNvSpPr txBox="1"/>
          <p:nvPr/>
        </p:nvSpPr>
        <p:spPr>
          <a:xfrm>
            <a:off x="504381" y="167471"/>
            <a:ext cx="9322199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Coinvolgimento del personale</a:t>
            </a:r>
          </a:p>
        </p:txBody>
      </p:sp>
      <p:cxnSp>
        <p:nvCxnSpPr>
          <p:cNvPr id="38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9" y="1274400"/>
            <a:ext cx="11376000" cy="469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43020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9196-D328-3818-CD42-8E93FF63E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B0D1AC4B-573A-FE0A-7825-059D9F0C355C}"/>
              </a:ext>
            </a:extLst>
          </p:cNvPr>
          <p:cNvSpPr txBox="1"/>
          <p:nvPr/>
        </p:nvSpPr>
        <p:spPr>
          <a:xfrm>
            <a:off x="504381" y="167471"/>
            <a:ext cx="9597151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Analisi per </a:t>
            </a:r>
            <a:r>
              <a:rPr lang="it-IT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funzione 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– Coinvolgimento del personale</a:t>
            </a:r>
          </a:p>
        </p:txBody>
      </p:sp>
      <p:cxnSp>
        <p:nvCxnSpPr>
          <p:cNvPr id="38" name="Connettore 1 37">
            <a:extLst>
              <a:ext uri="{FF2B5EF4-FFF2-40B4-BE49-F238E27FC236}">
                <a16:creationId xmlns:a16="http://schemas.microsoft.com/office/drawing/2014/main" id="{6B7C8F13-6AB0-4D77-80F7-11A054BC69D0}"/>
              </a:ext>
            </a:extLst>
          </p:cNvPr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>
            <a:extLst>
              <a:ext uri="{FF2B5EF4-FFF2-40B4-BE49-F238E27FC236}">
                <a16:creationId xmlns:a16="http://schemas.microsoft.com/office/drawing/2014/main" id="{6493C789-7EE6-CFE8-895D-43438751CC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69075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/>
          <p:cNvSpPr txBox="1"/>
          <p:nvPr/>
        </p:nvSpPr>
        <p:spPr>
          <a:xfrm>
            <a:off x="504381" y="167471"/>
            <a:ext cx="9322199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Priorità lavorative</a:t>
            </a:r>
          </a:p>
        </p:txBody>
      </p:sp>
      <p:cxnSp>
        <p:nvCxnSpPr>
          <p:cNvPr id="38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9" y="1274400"/>
            <a:ext cx="11376000" cy="469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90076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07DD9-70DC-2306-C23C-0E35CD8ED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61681167-9774-F8F6-F62A-ED52FEC6E617}"/>
              </a:ext>
            </a:extLst>
          </p:cNvPr>
          <p:cNvSpPr txBox="1"/>
          <p:nvPr/>
        </p:nvSpPr>
        <p:spPr>
          <a:xfrm>
            <a:off x="504381" y="167471"/>
            <a:ext cx="9322199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Analisi per </a:t>
            </a:r>
            <a:r>
              <a:rPr lang="it-IT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funzione 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– Priorità lavorative</a:t>
            </a:r>
          </a:p>
        </p:txBody>
      </p:sp>
      <p:cxnSp>
        <p:nvCxnSpPr>
          <p:cNvPr id="38" name="Connettore 1 37">
            <a:extLst>
              <a:ext uri="{FF2B5EF4-FFF2-40B4-BE49-F238E27FC236}">
                <a16:creationId xmlns:a16="http://schemas.microsoft.com/office/drawing/2014/main" id="{D073663E-A5F4-749C-1C20-B877E6D85318}"/>
              </a:ext>
            </a:extLst>
          </p:cNvPr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>
            <a:extLst>
              <a:ext uri="{FF2B5EF4-FFF2-40B4-BE49-F238E27FC236}">
                <a16:creationId xmlns:a16="http://schemas.microsoft.com/office/drawing/2014/main" id="{7FB51061-F358-F3A4-98F1-23B1F15624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18730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/>
          <p:cNvSpPr txBox="1"/>
          <p:nvPr/>
        </p:nvSpPr>
        <p:spPr>
          <a:xfrm>
            <a:off x="504381" y="167471"/>
            <a:ext cx="9322199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Risposta organizzativa agli eventi incidentali</a:t>
            </a:r>
            <a:r>
              <a:rPr kumimoji="0" lang="it-IT" sz="3200" b="1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e </a:t>
            </a:r>
            <a:r>
              <a:rPr kumimoji="0" lang="it-IT" sz="3200" b="1" i="0" u="none" strike="noStrike" kern="1200" cap="none" spc="0" normalizeH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near</a:t>
            </a:r>
            <a:r>
              <a:rPr kumimoji="0" lang="it-IT" sz="3200" b="1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miss</a:t>
            </a:r>
            <a:endParaRPr kumimoji="0" lang="it-IT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38" name="Connettore 1 37"/>
          <p:cNvCxnSpPr/>
          <p:nvPr/>
        </p:nvCxnSpPr>
        <p:spPr>
          <a:xfrm>
            <a:off x="504381" y="940529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9" y="1274400"/>
            <a:ext cx="11376000" cy="469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964388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0988-5C3D-A661-0AC1-5E2AFD54E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DE0AC187-7606-43C3-CE9E-A5DB985A6269}"/>
              </a:ext>
            </a:extLst>
          </p:cNvPr>
          <p:cNvSpPr txBox="1"/>
          <p:nvPr/>
        </p:nvSpPr>
        <p:spPr>
          <a:xfrm>
            <a:off x="504381" y="167471"/>
            <a:ext cx="93221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Analisi per </a:t>
            </a:r>
            <a:r>
              <a:rPr lang="it-IT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funzione 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– Risposta organizzativa agli eventi incidentali</a:t>
            </a:r>
            <a:r>
              <a:rPr kumimoji="0" lang="it-IT" sz="3200" b="1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e </a:t>
            </a:r>
            <a:r>
              <a:rPr kumimoji="0" lang="it-IT" sz="3200" b="1" i="0" u="none" strike="noStrike" kern="1200" cap="none" spc="0" normalizeH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near</a:t>
            </a:r>
            <a:r>
              <a:rPr kumimoji="0" lang="it-IT" sz="3200" b="1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miss</a:t>
            </a:r>
            <a:endParaRPr kumimoji="0" lang="it-IT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38" name="Connettore 1 37">
            <a:extLst>
              <a:ext uri="{FF2B5EF4-FFF2-40B4-BE49-F238E27FC236}">
                <a16:creationId xmlns:a16="http://schemas.microsoft.com/office/drawing/2014/main" id="{73CE286A-1AAD-516F-842F-F159CC6BFB81}"/>
              </a:ext>
            </a:extLst>
          </p:cNvPr>
          <p:cNvCxnSpPr/>
          <p:nvPr/>
        </p:nvCxnSpPr>
        <p:spPr>
          <a:xfrm>
            <a:off x="504381" y="1244689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>
            <a:extLst>
              <a:ext uri="{FF2B5EF4-FFF2-40B4-BE49-F238E27FC236}">
                <a16:creationId xmlns:a16="http://schemas.microsoft.com/office/drawing/2014/main" id="{926D4AA4-46C8-0EC5-61CF-CD4354AC09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068536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/>
          <p:cNvSpPr txBox="1"/>
          <p:nvPr/>
        </p:nvSpPr>
        <p:spPr>
          <a:xfrm>
            <a:off x="504381" y="167471"/>
            <a:ext cx="9322199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Impegno</a:t>
            </a:r>
            <a:r>
              <a:rPr kumimoji="0" lang="it-IT" sz="3200" b="1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aziendale nel miglioramento delle prestazioni</a:t>
            </a:r>
            <a:endParaRPr kumimoji="0" lang="it-IT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38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9" y="1274400"/>
            <a:ext cx="11376000" cy="469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200210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E5BA-EEA2-55D8-793A-45618C86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B1AB5FA6-6F85-D564-BA38-366FEA09932A}"/>
              </a:ext>
            </a:extLst>
          </p:cNvPr>
          <p:cNvSpPr txBox="1"/>
          <p:nvPr/>
        </p:nvSpPr>
        <p:spPr>
          <a:xfrm>
            <a:off x="504381" y="167471"/>
            <a:ext cx="93221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Analisi per </a:t>
            </a:r>
            <a:r>
              <a:rPr lang="it-IT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funzione 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– Impegno</a:t>
            </a:r>
            <a:r>
              <a:rPr kumimoji="0" lang="it-IT" sz="3200" b="1" i="0" u="none" strike="noStrike" kern="1200" cap="none" spc="0" normalizeH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aziendale nel miglioramento delle prestazioni</a:t>
            </a:r>
            <a:endParaRPr kumimoji="0" lang="it-IT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 Narrow" panose="020B060602020203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</p:txBody>
      </p:sp>
      <p:cxnSp>
        <p:nvCxnSpPr>
          <p:cNvPr id="38" name="Connettore 1 37">
            <a:extLst>
              <a:ext uri="{FF2B5EF4-FFF2-40B4-BE49-F238E27FC236}">
                <a16:creationId xmlns:a16="http://schemas.microsoft.com/office/drawing/2014/main" id="{88190A99-3D2E-85F7-8B1A-28C56B1D04B6}"/>
              </a:ext>
            </a:extLst>
          </p:cNvPr>
          <p:cNvCxnSpPr/>
          <p:nvPr/>
        </p:nvCxnSpPr>
        <p:spPr>
          <a:xfrm>
            <a:off x="504381" y="1244689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>
            <a:extLst>
              <a:ext uri="{FF2B5EF4-FFF2-40B4-BE49-F238E27FC236}">
                <a16:creationId xmlns:a16="http://schemas.microsoft.com/office/drawing/2014/main" id="{B767AAAD-DB5D-7A15-5FBC-864A228511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51454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/>
          <p:cNvSpPr txBox="1"/>
          <p:nvPr/>
        </p:nvSpPr>
        <p:spPr>
          <a:xfrm>
            <a:off x="504381" y="167471"/>
            <a:ext cx="9322199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Formazione e competenza</a:t>
            </a:r>
          </a:p>
        </p:txBody>
      </p:sp>
      <p:cxnSp>
        <p:nvCxnSpPr>
          <p:cNvPr id="38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9" y="1274400"/>
            <a:ext cx="11376000" cy="469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6062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D23E-AD44-7FA5-1D94-A2A0DC38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39D25A7B-76BE-2DDA-DC7A-EEDABFE5DA52}"/>
              </a:ext>
            </a:extLst>
          </p:cNvPr>
          <p:cNvSpPr txBox="1"/>
          <p:nvPr/>
        </p:nvSpPr>
        <p:spPr>
          <a:xfrm>
            <a:off x="504381" y="167471"/>
            <a:ext cx="9322199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Analisi per </a:t>
            </a:r>
            <a:r>
              <a:rPr lang="it-IT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funzione 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– Formazione e competenza</a:t>
            </a:r>
          </a:p>
        </p:txBody>
      </p:sp>
      <p:cxnSp>
        <p:nvCxnSpPr>
          <p:cNvPr id="38" name="Connettore 1 37">
            <a:extLst>
              <a:ext uri="{FF2B5EF4-FFF2-40B4-BE49-F238E27FC236}">
                <a16:creationId xmlns:a16="http://schemas.microsoft.com/office/drawing/2014/main" id="{C822EFE3-5279-20F6-FAF5-0D6F9F4F91B7}"/>
              </a:ext>
            </a:extLst>
          </p:cNvPr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>
            <a:extLst>
              <a:ext uri="{FF2B5EF4-FFF2-40B4-BE49-F238E27FC236}">
                <a16:creationId xmlns:a16="http://schemas.microsoft.com/office/drawing/2014/main" id="{90F41BF5-21E9-0A52-4B96-F182D80D31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03060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/>
          <p:cNvSpPr txBox="1"/>
          <p:nvPr/>
        </p:nvSpPr>
        <p:spPr>
          <a:xfrm>
            <a:off x="504381" y="167471"/>
            <a:ext cx="9322199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Percezione della performance</a:t>
            </a:r>
          </a:p>
        </p:txBody>
      </p:sp>
      <p:cxnSp>
        <p:nvCxnSpPr>
          <p:cNvPr id="38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9" y="1274400"/>
            <a:ext cx="11376000" cy="247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075479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9AD8D-A138-6EAF-52E1-926E9C3A7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00F974FA-AA18-D44C-08FE-C1CBAC661B57}"/>
              </a:ext>
            </a:extLst>
          </p:cNvPr>
          <p:cNvSpPr txBox="1"/>
          <p:nvPr/>
        </p:nvSpPr>
        <p:spPr>
          <a:xfrm>
            <a:off x="504381" y="167471"/>
            <a:ext cx="9623030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Analisi per </a:t>
            </a:r>
            <a:r>
              <a:rPr lang="it-IT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funzione 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– Percezione della performance</a:t>
            </a:r>
          </a:p>
        </p:txBody>
      </p:sp>
      <p:cxnSp>
        <p:nvCxnSpPr>
          <p:cNvPr id="38" name="Connettore 1 37">
            <a:extLst>
              <a:ext uri="{FF2B5EF4-FFF2-40B4-BE49-F238E27FC236}">
                <a16:creationId xmlns:a16="http://schemas.microsoft.com/office/drawing/2014/main" id="{38FF4B72-DEBA-B4BB-4DA8-2C595266DB05}"/>
              </a:ext>
            </a:extLst>
          </p:cNvPr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>
            <a:extLst>
              <a:ext uri="{FF2B5EF4-FFF2-40B4-BE49-F238E27FC236}">
                <a16:creationId xmlns:a16="http://schemas.microsoft.com/office/drawing/2014/main" id="{F6361212-BE66-BD51-1D0C-04FC02626E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86411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/>
          <p:cNvSpPr txBox="1"/>
          <p:nvPr/>
        </p:nvSpPr>
        <p:spPr>
          <a:xfrm>
            <a:off x="504381" y="167471"/>
            <a:ext cx="9322199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Sistema documentale</a:t>
            </a:r>
          </a:p>
        </p:txBody>
      </p:sp>
      <p:cxnSp>
        <p:nvCxnSpPr>
          <p:cNvPr id="38" name="Connettore 1 37"/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9" y="1274400"/>
            <a:ext cx="11376000" cy="247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58254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9772F-3476-EB46-DF82-FBCE059AD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AB344CE1-7B50-0257-5EB8-960284028780}"/>
              </a:ext>
            </a:extLst>
          </p:cNvPr>
          <p:cNvSpPr txBox="1"/>
          <p:nvPr/>
        </p:nvSpPr>
        <p:spPr>
          <a:xfrm>
            <a:off x="504381" y="167471"/>
            <a:ext cx="9322199" cy="736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Analisi per </a:t>
            </a:r>
            <a:r>
              <a:rPr lang="it-IT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funzione </a:t>
            </a:r>
            <a:r>
              <a:rPr kumimoji="0" lang="it-IT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– Sistema documentale</a:t>
            </a:r>
          </a:p>
        </p:txBody>
      </p:sp>
      <p:cxnSp>
        <p:nvCxnSpPr>
          <p:cNvPr id="38" name="Connettore 1 37">
            <a:extLst>
              <a:ext uri="{FF2B5EF4-FFF2-40B4-BE49-F238E27FC236}">
                <a16:creationId xmlns:a16="http://schemas.microsoft.com/office/drawing/2014/main" id="{0F135002-82D3-6543-9A5F-17DFD40C381B}"/>
              </a:ext>
            </a:extLst>
          </p:cNvPr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magine 39">
            <a:extLst>
              <a:ext uri="{FF2B5EF4-FFF2-40B4-BE49-F238E27FC236}">
                <a16:creationId xmlns:a16="http://schemas.microsoft.com/office/drawing/2014/main" id="{480D4700-EFFB-DE25-2BD8-326621C49C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80082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3CB31-8C88-B517-F9A0-E4C17D12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magine 39">
            <a:extLst>
              <a:ext uri="{FF2B5EF4-FFF2-40B4-BE49-F238E27FC236}">
                <a16:creationId xmlns:a16="http://schemas.microsoft.com/office/drawing/2014/main" id="{0BA3B366-9597-7F39-DB8A-2587DA9EE0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3853FA9-8917-E468-8E4D-2656F620510B}"/>
              </a:ext>
            </a:extLst>
          </p:cNvPr>
          <p:cNvSpPr txBox="1"/>
          <p:nvPr/>
        </p:nvSpPr>
        <p:spPr>
          <a:xfrm>
            <a:off x="395219" y="188868"/>
            <a:ext cx="9322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it-IT" sz="3200" b="1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Punti di forza e </a:t>
            </a:r>
            <a:r>
              <a:rPr lang="it-IT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aree di miglioramento</a:t>
            </a:r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93F3B4CC-8F35-58AE-5B54-A8ACA4C6126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273" y="1321260"/>
            <a:ext cx="604529" cy="604529"/>
          </a:xfrm>
          <a:prstGeom prst="rect">
            <a:avLst/>
          </a:prstGeom>
        </p:spPr>
      </p:pic>
      <p:pic>
        <p:nvPicPr>
          <p:cNvPr id="9" name="Picture 13">
            <a:extLst>
              <a:ext uri="{FF2B5EF4-FFF2-40B4-BE49-F238E27FC236}">
                <a16:creationId xmlns:a16="http://schemas.microsoft.com/office/drawing/2014/main" id="{F9F309B3-87D1-DBAA-CB9A-798B22ED40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659" y="1321260"/>
            <a:ext cx="604529" cy="604529"/>
          </a:xfrm>
          <a:prstGeom prst="rect">
            <a:avLst/>
          </a:prstGeom>
        </p:spPr>
      </p:pic>
      <p:cxnSp>
        <p:nvCxnSpPr>
          <p:cNvPr id="12" name="Connettore 1 37">
            <a:extLst>
              <a:ext uri="{FF2B5EF4-FFF2-40B4-BE49-F238E27FC236}">
                <a16:creationId xmlns:a16="http://schemas.microsoft.com/office/drawing/2014/main" id="{C31B30F5-7B82-340E-77F2-B744D822BE73}"/>
              </a:ext>
            </a:extLst>
          </p:cNvPr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6680AB5-AD54-C30A-B477-2C438986525E}"/>
              </a:ext>
            </a:extLst>
          </p:cNvPr>
          <p:cNvSpPr txBox="1"/>
          <p:nvPr/>
        </p:nvSpPr>
        <p:spPr>
          <a:xfrm>
            <a:off x="6450742" y="2137581"/>
            <a:ext cx="5400000" cy="1059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§"/>
              <a:defRPr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Le dimensioni in cui la Cultura HSE risulta migliorabile sono «</a:t>
            </a:r>
            <a:r>
              <a:rPr lang="it-IT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» e «</a:t>
            </a:r>
            <a:r>
              <a:rPr lang="it-IT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  <a:p>
            <a:pPr marL="285750" lvl="1" indent="-285750">
              <a:lnSpc>
                <a:spcPct val="110000"/>
              </a:lnSpc>
              <a:spcAft>
                <a:spcPts val="600"/>
              </a:spcAft>
              <a:buClr>
                <a:srgbClr val="FFC000"/>
              </a:buClr>
              <a:buFont typeface="Wingdings" panose="05000000000000000000" pitchFamily="2" charset="2"/>
              <a:buChar char="§"/>
              <a:defRPr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140">
            <a:extLst>
              <a:ext uri="{FF2B5EF4-FFF2-40B4-BE49-F238E27FC236}">
                <a16:creationId xmlns:a16="http://schemas.microsoft.com/office/drawing/2014/main" id="{216FC51B-8A49-A7D6-6856-EF36A9E1C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756" y="2137581"/>
            <a:ext cx="5400000" cy="1443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6800" tIns="46800" rIns="46800" bIns="46800">
            <a:spAutoFit/>
          </a:bodyPr>
          <a:lstStyle>
            <a:defPPr>
              <a:defRPr lang="it-IT"/>
            </a:defPPr>
            <a:lvl1pPr>
              <a:defRPr>
                <a:latin typeface="Calibri" panose="020F0502020204030204" pitchFamily="34" charset="0"/>
              </a:defRPr>
            </a:lvl1pPr>
            <a:lvl2pPr marL="228600" lvl="1" indent="-228600" defTabSz="11112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  <a:defRPr sz="1600">
                <a:latin typeface="Calibri" panose="020F0502020204030204" pitchFamily="34" charset="0"/>
              </a:defRPr>
            </a:lvl2pPr>
            <a:lvl3pPr marL="1143000" indent="-228600">
              <a:defRPr>
                <a:latin typeface="Calibri" panose="020F0502020204030204" pitchFamily="34" charset="0"/>
              </a:defRPr>
            </a:lvl3pPr>
            <a:lvl4pPr marL="1600200" indent="-228600">
              <a:defRPr>
                <a:latin typeface="Calibri" panose="020F0502020204030204" pitchFamily="34" charset="0"/>
              </a:defRPr>
            </a:lvl4pPr>
            <a:lvl5pPr marL="2057400" indent="-228600">
              <a:defRPr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</a:defRPr>
            </a:lvl9pPr>
          </a:lstStyle>
          <a:p>
            <a:pPr lvl="1">
              <a:lnSpc>
                <a:spcPct val="110000"/>
              </a:lnSpc>
              <a:spcAft>
                <a:spcPts val="600"/>
              </a:spcAft>
              <a:buClr>
                <a:srgbClr val="00B050"/>
              </a:buClr>
              <a:buFont typeface="Wingdings" panose="05000000000000000000" pitchFamily="2" charset="2"/>
              <a:buChar char="§"/>
              <a:defRPr/>
            </a:pPr>
            <a:r>
              <a:rPr lang="it-IT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cultura HSE in </a:t>
            </a:r>
            <a:r>
              <a:rPr lang="it-IT" sz="1800" dirty="0">
                <a:solidFill>
                  <a:prstClr val="black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  <a:r>
              <a:rPr lang="it-IT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risulta </a:t>
            </a:r>
            <a:r>
              <a:rPr lang="it-IT" sz="1800" dirty="0">
                <a:solidFill>
                  <a:prstClr val="black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molto positiva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lr>
                <a:srgbClr val="00B050"/>
              </a:buClr>
              <a:buFont typeface="Wingdings" panose="05000000000000000000" pitchFamily="2" charset="2"/>
              <a:buChar char="§"/>
              <a:defRPr/>
            </a:pPr>
            <a:r>
              <a:rPr lang="it-IT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dimensioni in cui la Cultura HSE risulta maggiormente positiva sono «</a:t>
            </a:r>
            <a:r>
              <a:rPr lang="it-IT" sz="1800" b="1" dirty="0">
                <a:solidFill>
                  <a:prstClr val="black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  <a:r>
              <a:rPr lang="it-IT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 e «</a:t>
            </a:r>
            <a:r>
              <a:rPr lang="it-IT" sz="1800" b="1" dirty="0">
                <a:solidFill>
                  <a:prstClr val="black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  <a:r>
              <a:rPr lang="it-IT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lr>
                <a:srgbClr val="00B050"/>
              </a:buClr>
              <a:buFont typeface="Wingdings" panose="05000000000000000000" pitchFamily="2" charset="2"/>
              <a:buChar char="§"/>
              <a:defRPr/>
            </a:pPr>
            <a:r>
              <a:rPr lang="it-IT" sz="18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endParaRPr lang="it-IT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026233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3CB31-8C88-B517-F9A0-E4C17D12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magine 39">
            <a:extLst>
              <a:ext uri="{FF2B5EF4-FFF2-40B4-BE49-F238E27FC236}">
                <a16:creationId xmlns:a16="http://schemas.microsoft.com/office/drawing/2014/main" id="{0BA3B366-9597-7F39-DB8A-2587DA9EE0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" t="10693" r="58906" b="34920"/>
          <a:stretch/>
        </p:blipFill>
        <p:spPr>
          <a:xfrm>
            <a:off x="10202779" y="103619"/>
            <a:ext cx="1466057" cy="80649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33853FA9-8917-E468-8E4D-2656F620510B}"/>
              </a:ext>
            </a:extLst>
          </p:cNvPr>
          <p:cNvSpPr txBox="1"/>
          <p:nvPr/>
        </p:nvSpPr>
        <p:spPr>
          <a:xfrm>
            <a:off x="504381" y="197970"/>
            <a:ext cx="9322199" cy="751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it-IT" sz="3200" b="1" dirty="0">
                <a:solidFill>
                  <a:srgbClr val="404040"/>
                </a:solidFill>
                <a:latin typeface="Arial Narrow" panose="020B060602020203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Raccomandazioni per il miglioramento</a:t>
            </a:r>
          </a:p>
        </p:txBody>
      </p:sp>
      <p:cxnSp>
        <p:nvCxnSpPr>
          <p:cNvPr id="12" name="Connettore 1 37">
            <a:extLst>
              <a:ext uri="{FF2B5EF4-FFF2-40B4-BE49-F238E27FC236}">
                <a16:creationId xmlns:a16="http://schemas.microsoft.com/office/drawing/2014/main" id="{C31B30F5-7B82-340E-77F2-B744D822BE73}"/>
              </a:ext>
            </a:extLst>
          </p:cNvPr>
          <p:cNvCxnSpPr/>
          <p:nvPr/>
        </p:nvCxnSpPr>
        <p:spPr>
          <a:xfrm>
            <a:off x="504381" y="888773"/>
            <a:ext cx="11164455" cy="0"/>
          </a:xfrm>
          <a:prstGeom prst="line">
            <a:avLst/>
          </a:prstGeom>
          <a:ln w="19050" cmpd="sng">
            <a:solidFill>
              <a:srgbClr val="C9C8C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tangolo 3"/>
          <p:cNvSpPr/>
          <p:nvPr/>
        </p:nvSpPr>
        <p:spPr>
          <a:xfrm>
            <a:off x="504380" y="875188"/>
            <a:ext cx="11164455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213" lvl="0" indent="-171450">
              <a:lnSpc>
                <a:spcPct val="150000"/>
              </a:lnSpc>
              <a:spcAft>
                <a:spcPts val="600"/>
              </a:spcAft>
            </a:pPr>
            <a:r>
              <a:rPr lang="it-IT" sz="1200" dirty="0" err="1"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endParaRPr lang="it-IT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308445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Titolo e punti elenco - 2 colonn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3F7EEBEE-C496-4CE1-895D-2DC3146735A3}" vid="{E3EC873B-4E0A-48E2-BB7F-DE5AACBAC29B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DD22ECCB0C3443BAAF89C3691CE34B" ma:contentTypeVersion="14" ma:contentTypeDescription="Create a new document." ma:contentTypeScope="" ma:versionID="f302cd39c70a246bd3264812e8dd5ec3">
  <xsd:schema xmlns:xsd="http://www.w3.org/2001/XMLSchema" xmlns:xs="http://www.w3.org/2001/XMLSchema" xmlns:p="http://schemas.microsoft.com/office/2006/metadata/properties" xmlns:ns3="0f01c6e1-cc10-499c-b6f6-267d4024d6e2" xmlns:ns4="9a135393-16df-4691-a520-74c834efda9b" targetNamespace="http://schemas.microsoft.com/office/2006/metadata/properties" ma:root="true" ma:fieldsID="76d0c373b4d047e412288bf1bc09019e" ns3:_="" ns4:_="">
    <xsd:import namespace="0f01c6e1-cc10-499c-b6f6-267d4024d6e2"/>
    <xsd:import namespace="9a135393-16df-4691-a520-74c834efda9b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01c6e1-cc10-499c-b6f6-267d4024d6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135393-16df-4691-a520-74c834efda9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f01c6e1-cc10-499c-b6f6-267d4024d6e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2BB379-5C3F-4064-81AE-CFE809476A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01c6e1-cc10-499c-b6f6-267d4024d6e2"/>
    <ds:schemaRef ds:uri="9a135393-16df-4691-a520-74c834efda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B7170C-4ECE-4A3F-B362-F53BCBE58A60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9a135393-16df-4691-a520-74c834efda9b"/>
    <ds:schemaRef ds:uri="http://schemas.openxmlformats.org/package/2006/metadata/core-properties"/>
    <ds:schemaRef ds:uri="http://www.w3.org/XML/1998/namespace"/>
    <ds:schemaRef ds:uri="0f01c6e1-cc10-499c-b6f6-267d4024d6e2"/>
    <ds:schemaRef ds:uri="http://purl.org/dc/dcmitype/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8BCC0F5-118F-4D2B-84B2-B2936F6742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962</TotalTime>
  <Words>1189</Words>
  <Application>Microsoft Macintosh PowerPoint</Application>
  <PresentationFormat>Widescreen</PresentationFormat>
  <Paragraphs>75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Arial</vt:lpstr>
      <vt:lpstr>Arial Narrow</vt:lpstr>
      <vt:lpstr>Arial Nova</vt:lpstr>
      <vt:lpstr>Arial Nova Cond</vt:lpstr>
      <vt:lpstr>Calibri</vt:lpstr>
      <vt:lpstr>Calibri Light</vt:lpstr>
      <vt:lpstr>Gill Sans</vt:lpstr>
      <vt:lpstr>Wingdings</vt:lpstr>
      <vt:lpstr>Titolo e punti elenco - 2 colonne</vt:lpstr>
      <vt:lpstr>Tema di Office</vt:lpstr>
      <vt:lpstr>Tema1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Niccolò Todaro</dc:creator>
  <cp:lastModifiedBy>Luca Francesco Maria Tognari</cp:lastModifiedBy>
  <cp:revision>193</cp:revision>
  <dcterms:created xsi:type="dcterms:W3CDTF">2020-01-31T12:03:15Z</dcterms:created>
  <dcterms:modified xsi:type="dcterms:W3CDTF">2026-02-27T22:54:24Z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0x01010024DD22ECCB0C3443BAAF89C3691CE34B</vt:lpwstr>
  </property>
</Properties>
</file>