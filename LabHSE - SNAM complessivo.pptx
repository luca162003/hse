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customXml/item1.xml"/><Relationship Id="rId5" Type="http://schemas.openxmlformats.org/officeDocument/2006/relationships/customXml" Target="customXml/item2.xml"/><Relationship Id="rId6" Type="http://schemas.openxmlformats.org/officeDocument/2006/relationships/customXml" Target="customXml/item3.xml"/><Relationship Id="rId7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  <p:sldMasterId id="2147483672" r:id="rId4"/>
    <p:sldMasterId id="2147483684" r:id="rId5"/>
    <p:sldMasterId id="2147483686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Master" Target="slideMasters/slideMaster23.xml"/><Relationship Id="rId5" Type="http://schemas.openxmlformats.org/officeDocument/2006/relationships/slideMaster" Target="slideMasters/slideMaster34.xml"/><Relationship Id="rId6" Type="http://schemas.openxmlformats.org/officeDocument/2006/relationships/slideMaster" Target="slideMasters/slideMaster3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1.jpe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1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1.jpe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1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1.jpe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1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1.jpe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1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1.jpe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1.jpe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1.jpe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uota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dt" idx="1"/>
          </p:nvPr>
        </p:nvSpPr>
        <p:spPr>
          <a:xfrm>
            <a:off x="83808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ftr" idx="2"/>
          </p:nvPr>
        </p:nvSpPr>
        <p:spPr>
          <a:xfrm>
            <a:off x="4038480" y="6356880"/>
            <a:ext cx="41148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sldNum" idx="3"/>
          </p:nvPr>
        </p:nvSpPr>
        <p:spPr>
          <a:xfrm>
            <a:off x="861012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DABFA19-5FAD-48B2-BACA-48D083A68C3D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uto con didascalia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 defTabSz="91404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27520" indent="-227520" defTabSz="9140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4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192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59948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0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defTabSz="91404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it-IT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83808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4038480" y="6356880"/>
            <a:ext cx="41148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861012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78919C4-DDA6-4C18-93D9-AB11F77C460F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magine con didascalia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 defTabSz="91404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sull'icona per inserire un'immagine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defTabSz="91404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it-IT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7"/>
          </p:nvPr>
        </p:nvSpPr>
        <p:spPr>
          <a:xfrm>
            <a:off x="83808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8"/>
          </p:nvPr>
        </p:nvSpPr>
        <p:spPr>
          <a:xfrm>
            <a:off x="4038480" y="6356880"/>
            <a:ext cx="41148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861012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8537267-27A9-495B-A2A6-927ECEE608A2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titol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 algn="ctr" defTabSz="91404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83808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4038480" y="6356880"/>
            <a:ext cx="41148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861012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3ED8785-8DEC-4904-9ED0-962549C93AAC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olo e testo vertica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defTabSz="91404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36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3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1826280"/>
            <a:ext cx="10514880" cy="4350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 vert="eaVert">
            <a:noAutofit/>
          </a:bodyPr>
          <a:p>
            <a:pPr marL="227520" indent="-227520" defTabSz="9140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74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4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39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192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9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1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59948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7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0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7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880"/>
            <a:ext cx="41148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12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ECE704D-BF40-4E4C-901E-431B6877055D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1_Titolo e testo vertica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 vert="eaVert">
            <a:noAutofit/>
          </a:bodyPr>
          <a:p>
            <a:pPr indent="0" defTabSz="91404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36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3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 vert="eaVert">
            <a:noAutofit/>
          </a:bodyPr>
          <a:p>
            <a:pPr marL="227520" indent="-227520" defTabSz="9140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74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4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39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192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9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1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59948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7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0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7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6"/>
          </p:nvPr>
        </p:nvSpPr>
        <p:spPr>
          <a:xfrm>
            <a:off x="83808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7"/>
          </p:nvPr>
        </p:nvSpPr>
        <p:spPr>
          <a:xfrm>
            <a:off x="4038480" y="6356880"/>
            <a:ext cx="41148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18"/>
          </p:nvPr>
        </p:nvSpPr>
        <p:spPr>
          <a:xfrm>
            <a:off x="861012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0258B6F-BF5B-4EC1-BFAC-C460864C96EC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olo e contenut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defTabSz="91404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36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3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8080" y="1826280"/>
            <a:ext cx="10514880" cy="4350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27520" indent="-227520" defTabSz="9140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74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4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39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192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9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1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59948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7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0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7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19"/>
          </p:nvPr>
        </p:nvSpPr>
        <p:spPr>
          <a:xfrm>
            <a:off x="83808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0"/>
          </p:nvPr>
        </p:nvSpPr>
        <p:spPr>
          <a:xfrm>
            <a:off x="4038480" y="6356880"/>
            <a:ext cx="41148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21"/>
          </p:nvPr>
        </p:nvSpPr>
        <p:spPr>
          <a:xfrm>
            <a:off x="861012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DD80BA4-E72F-4208-977B-EFA0D293A97E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testazione sezion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 defTabSz="91404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defTabSz="91404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it-IT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22"/>
          </p:nvPr>
        </p:nvSpPr>
        <p:spPr>
          <a:xfrm>
            <a:off x="83808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23"/>
          </p:nvPr>
        </p:nvSpPr>
        <p:spPr>
          <a:xfrm>
            <a:off x="4038480" y="6356880"/>
            <a:ext cx="41148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24"/>
          </p:nvPr>
        </p:nvSpPr>
        <p:spPr>
          <a:xfrm>
            <a:off x="861012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2490E98-9A53-4788-BA18-BC54763E4235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e contenuti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defTabSz="91404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36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3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27520" indent="-227520" defTabSz="9140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74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4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39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192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9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1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59948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7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0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7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27520" indent="-227520" defTabSz="9140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74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4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39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192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9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1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59948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7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0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7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5"/>
          </p:nvPr>
        </p:nvSpPr>
        <p:spPr>
          <a:xfrm>
            <a:off x="83808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6"/>
          </p:nvPr>
        </p:nvSpPr>
        <p:spPr>
          <a:xfrm>
            <a:off x="4038480" y="6356880"/>
            <a:ext cx="41148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27"/>
          </p:nvPr>
        </p:nvSpPr>
        <p:spPr>
          <a:xfrm>
            <a:off x="861012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2188981-772D-468E-8DBE-8A9BC4A2E061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front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defTabSz="91404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36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3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 defTabSz="91404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27520" indent="-227520" defTabSz="9140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74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4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39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192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9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1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59948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7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0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7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 defTabSz="91404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27520" indent="-227520" defTabSz="9140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74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4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39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192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9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1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59948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7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0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7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dt" idx="28"/>
          </p:nvPr>
        </p:nvSpPr>
        <p:spPr>
          <a:xfrm>
            <a:off x="83808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7"/>
          <p:cNvSpPr>
            <a:spLocks noGrp="1"/>
          </p:cNvSpPr>
          <p:nvPr>
            <p:ph type="ftr" idx="29"/>
          </p:nvPr>
        </p:nvSpPr>
        <p:spPr>
          <a:xfrm>
            <a:off x="4038480" y="6356880"/>
            <a:ext cx="41148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8"/>
          <p:cNvSpPr>
            <a:spLocks noGrp="1"/>
          </p:cNvSpPr>
          <p:nvPr>
            <p:ph type="sldNum" idx="30"/>
          </p:nvPr>
        </p:nvSpPr>
        <p:spPr>
          <a:xfrm>
            <a:off x="861012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906E1D1-ABE9-495E-A982-7B0E82D0D1F1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titol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defTabSz="91404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36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3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dt" idx="31"/>
          </p:nvPr>
        </p:nvSpPr>
        <p:spPr>
          <a:xfrm>
            <a:off x="83808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ftr" idx="32"/>
          </p:nvPr>
        </p:nvSpPr>
        <p:spPr>
          <a:xfrm>
            <a:off x="4038480" y="6356880"/>
            <a:ext cx="41148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sldNum" idx="33"/>
          </p:nvPr>
        </p:nvSpPr>
        <p:spPr>
          <a:xfrm>
            <a:off x="861012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87976D4-E969-4ED1-BBBC-FA2D497F3E64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F9B7A69-8B53-4126-BF74-7D793D4FBBFD}" type="slidenum"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it-IT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dt" idx="3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ftr" idx="3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sldNum" idx="3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BDD8DC9-93A7-415E-9435-DD35925D67F4}" type="slidenum"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it-IT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dt" idx="4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ftr" idx="4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 type="sldNum" idx="4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C61BE40-D7F3-46D4-A4DA-5D505ED4E8B5}" type="slidenum"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dt" idx="4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ftr" idx="4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sldNum" idx="4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1FD36CC-3B93-4A29-B901-EA92EFC4F185}" type="slidenum"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dt" idx="4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ftr" idx="4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sldNum" idx="4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2758D8E-D2B6-496A-B6C5-EBB64CDDEAE8}" type="slidenum"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dt" idx="4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ftr" idx="5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sldNum" idx="5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797F6E8-4B75-488B-AD3F-E6335245F510}" type="slidenum"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dt" idx="5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ftr" idx="5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5"/>
          <p:cNvSpPr>
            <a:spLocks noGrp="1"/>
          </p:cNvSpPr>
          <p:nvPr>
            <p:ph type="sldNum" idx="5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C77CB16-B813-4EA3-B220-6CC902CCCFBC}" type="slidenum"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it-IT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dt" idx="5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 type="ftr" idx="5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PlaceHolder 5"/>
          <p:cNvSpPr>
            <a:spLocks noGrp="1"/>
          </p:cNvSpPr>
          <p:nvPr>
            <p:ph type="sldNum" idx="5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4F41F6B-01A2-41BB-B9DA-5112BED1647A}" type="slidenum"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dt" idx="5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PlaceHolder 5"/>
          <p:cNvSpPr>
            <a:spLocks noGrp="1"/>
          </p:cNvSpPr>
          <p:nvPr>
            <p:ph type="ftr" idx="5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PlaceHolder 6"/>
          <p:cNvSpPr>
            <a:spLocks noGrp="1"/>
          </p:cNvSpPr>
          <p:nvPr>
            <p:ph type="sldNum" idx="6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A4DE19C-EA20-429E-826F-98952702E118}" type="slidenum"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6"/>
          <p:cNvSpPr>
            <a:spLocks noGrp="1"/>
          </p:cNvSpPr>
          <p:nvPr>
            <p:ph type="dt" idx="6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PlaceHolder 7"/>
          <p:cNvSpPr>
            <a:spLocks noGrp="1"/>
          </p:cNvSpPr>
          <p:nvPr>
            <p:ph type="ftr" idx="6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PlaceHolder 8"/>
          <p:cNvSpPr>
            <a:spLocks noGrp="1"/>
          </p:cNvSpPr>
          <p:nvPr>
            <p:ph type="sldNum" idx="6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6225BF1-6A4B-4FCE-8122-9C08BB89C4A8}" type="slidenum"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dt" idx="6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ftr" idx="6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 type="sldNum" idx="6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C9BE4ED-D82E-4073-85FF-C02CD1230F11}" type="slidenum"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PlaceHolder 1"/>
          <p:cNvSpPr>
            <a:spLocks noGrp="1"/>
          </p:cNvSpPr>
          <p:nvPr>
            <p:ph type="dt" idx="6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ftr" idx="6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6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AE746B3-1CA2-4D07-AD1F-5C5994EA5916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Modifica gli stili del testo dello schema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it-IT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Modifica gli stili del testo dello schema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 type="dt" idx="7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PlaceHolder 5"/>
          <p:cNvSpPr>
            <a:spLocks noGrp="1"/>
          </p:cNvSpPr>
          <p:nvPr>
            <p:ph type="ftr" idx="7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PlaceHolder 6"/>
          <p:cNvSpPr>
            <a:spLocks noGrp="1"/>
          </p:cNvSpPr>
          <p:nvPr>
            <p:ph type="sldNum" idx="7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2947B33-92AB-4B13-956B-C58A57E52C86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sull'icona per inserire un'immagine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it-IT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Modifica gli stili del testo dello schema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dt" idx="7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PlaceHolder 5"/>
          <p:cNvSpPr>
            <a:spLocks noGrp="1"/>
          </p:cNvSpPr>
          <p:nvPr>
            <p:ph type="ftr" idx="7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PlaceHolder 6"/>
          <p:cNvSpPr>
            <a:spLocks noGrp="1"/>
          </p:cNvSpPr>
          <p:nvPr>
            <p:ph type="sldNum" idx="7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A57A437-A6BF-43B3-93E7-BE6F6679775F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dt" idx="7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ftr" idx="7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sldNum" idx="7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E48DF41-A51B-45E6-8A4F-241D992CD6D2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Modifica gli stili del testo dello schema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dt" idx="7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 type="ftr" idx="8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PlaceHolder 5"/>
          <p:cNvSpPr>
            <a:spLocks noGrp="1"/>
          </p:cNvSpPr>
          <p:nvPr>
            <p:ph type="sldNum" idx="8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957F0A3-363D-45D6-A69E-71BE9253AD3B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Modifica gli stili del testo dello schema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dt" idx="8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ftr" idx="8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PlaceHolder 5"/>
          <p:cNvSpPr>
            <a:spLocks noGrp="1"/>
          </p:cNvSpPr>
          <p:nvPr>
            <p:ph type="sldNum" idx="8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3F12DAC-08F7-4E0E-9FE2-05A338F4C97F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Modifica gli stili del testo dello schema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dt" idx="8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 type="ftr" idx="8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PlaceHolder 5"/>
          <p:cNvSpPr>
            <a:spLocks noGrp="1"/>
          </p:cNvSpPr>
          <p:nvPr>
            <p:ph type="sldNum" idx="8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7C10C8B-BD4F-41FA-A425-8D849436A304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it-IT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Modifica gli stili del testo dello schema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dt" idx="8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ftr" idx="8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 type="sldNum" idx="9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E478A87-CCC2-4C43-B2A8-FF61EF954BC0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Modifica gli stili del testo dello schema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Modifica gli stili del testo dello schema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4"/>
          <p:cNvSpPr>
            <a:spLocks noGrp="1"/>
          </p:cNvSpPr>
          <p:nvPr>
            <p:ph type="dt" idx="9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PlaceHolder 5"/>
          <p:cNvSpPr>
            <a:spLocks noGrp="1"/>
          </p:cNvSpPr>
          <p:nvPr>
            <p:ph type="ftr" idx="9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PlaceHolder 6"/>
          <p:cNvSpPr>
            <a:spLocks noGrp="1"/>
          </p:cNvSpPr>
          <p:nvPr>
            <p:ph type="sldNum" idx="9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D738262-3788-42DE-9BC5-925586FD9C19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Modifica gli stili del testo dello schema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Modifica gli stili del testo dello schema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Modifica gli stili del testo dello schema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Modifica gli stili del testo dello schema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6"/>
          <p:cNvSpPr>
            <a:spLocks noGrp="1"/>
          </p:cNvSpPr>
          <p:nvPr>
            <p:ph type="dt" idx="9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PlaceHolder 7"/>
          <p:cNvSpPr>
            <a:spLocks noGrp="1"/>
          </p:cNvSpPr>
          <p:nvPr>
            <p:ph type="ftr" idx="9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PlaceHolder 8"/>
          <p:cNvSpPr>
            <a:spLocks noGrp="1"/>
          </p:cNvSpPr>
          <p:nvPr>
            <p:ph type="sldNum" idx="9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0942835-E965-4F2C-BC4C-440F2C6531DB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dt" idx="9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ftr" idx="9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PlaceHolder 4"/>
          <p:cNvSpPr>
            <a:spLocks noGrp="1"/>
          </p:cNvSpPr>
          <p:nvPr>
            <p:ph type="sldNum" idx="9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586D0DD-DCF8-4A29-929D-AD84DA25ABEA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olo e contenuto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838080" y="1826280"/>
            <a:ext cx="1051488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1"/>
          </p:nvPr>
        </p:nvSpPr>
        <p:spPr/>
        <p:txBody>
          <a:bodyPr/>
          <a:p>
            <a:fld id="{C9A1F9E0-832C-4A35-B815-19C3EB6814E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4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838080" y="1826280"/>
            <a:ext cx="1051488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5"/>
          </p:nvPr>
        </p:nvSpPr>
        <p:spPr/>
        <p:txBody>
          <a:bodyPr/>
          <a:p>
            <a:fld id="{8360D174-C4BF-4A77-91F6-0C1883088A8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838080" y="890280"/>
            <a:ext cx="105148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838080" y="1826280"/>
            <a:ext cx="1051488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ftr" idx="10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sldNum" idx="10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D82A21B-BF31-4A75-B0F4-88FB0FB8A35E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PlaceHolder 5"/>
          <p:cNvSpPr>
            <a:spLocks noGrp="1"/>
          </p:cNvSpPr>
          <p:nvPr>
            <p:ph type="dt" idx="10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3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it-IT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Modifica gli stili del testo dello schema</a:t>
            </a:r>
            <a:endParaRPr b="0" lang="it-IT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it-IT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it-IT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it-IT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it-IT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dt" idx="10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PlaceHolder 4"/>
          <p:cNvSpPr>
            <a:spLocks noGrp="1"/>
          </p:cNvSpPr>
          <p:nvPr>
            <p:ph type="ftr" idx="10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PlaceHolder 5"/>
          <p:cNvSpPr>
            <a:spLocks noGrp="1"/>
          </p:cNvSpPr>
          <p:nvPr>
            <p:ph type="sldNum" idx="10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A845181-D2C9-49B6-90B7-CCDE23A52D1D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2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2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2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2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2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2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2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2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2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2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2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2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0.jpe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Immagine 4" descr=""/>
          <p:cNvPicPr/>
          <p:nvPr/>
        </p:nvPicPr>
        <p:blipFill>
          <a:blip r:embed="rId1"/>
          <a:stretch/>
        </p:blipFill>
        <p:spPr>
          <a:xfrm>
            <a:off x="612720" y="520560"/>
            <a:ext cx="2036520" cy="87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1" name="Immagine 6" descr=""/>
          <p:cNvPicPr/>
          <p:nvPr/>
        </p:nvPicPr>
        <p:blipFill>
          <a:blip r:embed="rId2"/>
          <a:stretch/>
        </p:blipFill>
        <p:spPr>
          <a:xfrm>
            <a:off x="504360" y="5160960"/>
            <a:ext cx="1143360" cy="60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2" name="Immagine 7" descr=""/>
          <p:cNvPicPr/>
          <p:nvPr/>
        </p:nvPicPr>
        <p:blipFill>
          <a:blip r:embed="rId3"/>
          <a:srcRect l="0" t="0" r="50245" b="0"/>
          <a:stretch/>
        </p:blipFill>
        <p:spPr>
          <a:xfrm>
            <a:off x="9225720" y="393480"/>
            <a:ext cx="2952000" cy="59022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13" name="Connettore 1 9"/>
          <p:cNvCxnSpPr/>
          <p:nvPr/>
        </p:nvCxnSpPr>
        <p:spPr>
          <a:xfrm>
            <a:off x="590400" y="5743080"/>
            <a:ext cx="972792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14" name="Immagine 3" descr=""/>
          <p:cNvPicPr/>
          <p:nvPr/>
        </p:nvPicPr>
        <p:blipFill>
          <a:blip r:embed="rId4"/>
          <a:stretch/>
        </p:blipFill>
        <p:spPr>
          <a:xfrm>
            <a:off x="666720" y="1572840"/>
            <a:ext cx="2882160" cy="106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CasellaDiTesto 1"/>
          <p:cNvSpPr/>
          <p:nvPr/>
        </p:nvSpPr>
        <p:spPr>
          <a:xfrm>
            <a:off x="612720" y="2667960"/>
            <a:ext cx="7745400" cy="23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it-IT" sz="6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 Nova Cond"/>
              </a:rPr>
              <a:t>Indagine sulla </a:t>
            </a:r>
            <a:r>
              <a:rPr b="1" lang="it-IT" sz="7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 Nova Cond"/>
              </a:rPr>
              <a:t>Cultura HSE in SNAM complessivo</a:t>
            </a:r>
            <a:endParaRPr b="0" lang="en-US" sz="7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CasellaDiTesto 2"/>
          <p:cNvSpPr/>
          <p:nvPr/>
        </p:nvSpPr>
        <p:spPr>
          <a:xfrm>
            <a:off x="590400" y="5770800"/>
            <a:ext cx="696456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Marzo 2026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Immagine 8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CasellaDiTesto 9"/>
          <p:cNvSpPr/>
          <p:nvPr/>
        </p:nvSpPr>
        <p:spPr>
          <a:xfrm>
            <a:off x="504360" y="252000"/>
            <a:ext cx="1002960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2800" strike="noStrike" u="none">
                <a:solidFill>
                  <a:srgbClr val="404040"/>
                </a:solidFill>
                <a:effectLst/>
                <a:uFillTx/>
                <a:latin typeface="Arial Nova Cond"/>
                <a:ea typeface="Malgun Gothic"/>
              </a:rPr>
              <a:t>Laboratorio HSE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9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sp>
        <p:nvSpPr>
          <p:cNvPr id="220" name="CasellaDiTesto 2"/>
          <p:cNvSpPr/>
          <p:nvPr/>
        </p:nvSpPr>
        <p:spPr>
          <a:xfrm>
            <a:off x="504360" y="893880"/>
            <a:ext cx="11163600" cy="22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Il 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Laboratorio HSE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è un progetto di approfondimento sui modelli organizzativi </a:t>
            </a:r>
            <a:r>
              <a:rPr b="0" i="1" lang="it-IT" sz="14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Health, Safety &amp; Environment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, condotto dall’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Istituto di Management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della 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Scuola Superiore Sant’Anna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.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Dal 2017 ad oggi, le attività del LabHSE si concentrano sullo sviluppo di 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strumenti di misurazione e analisi delle prestazioni dei modelli HSE,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volti a supportare le imprese partecipanti nel loro percorso di miglioramento. Tali strumenti sono sviluppati in stretta collaborazione con, e applicati da, numerose realtà aziendali italiane: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 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1" name="Immagine 22" descr=""/>
          <p:cNvPicPr/>
          <p:nvPr/>
        </p:nvPicPr>
        <p:blipFill>
          <a:blip r:embed="rId2"/>
          <a:stretch/>
        </p:blipFill>
        <p:spPr>
          <a:xfrm>
            <a:off x="1281960" y="2817720"/>
            <a:ext cx="9627480" cy="314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CasellaDiTesto 38"/>
          <p:cNvSpPr/>
          <p:nvPr/>
        </p:nvSpPr>
        <p:spPr>
          <a:xfrm>
            <a:off x="504360" y="167400"/>
            <a:ext cx="9321480" cy="73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L’indagine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3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24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5" name="CasellaDiTesto 12"/>
          <p:cNvSpPr/>
          <p:nvPr/>
        </p:nvSpPr>
        <p:spPr>
          <a:xfrm>
            <a:off x="504360" y="1092600"/>
            <a:ext cx="11163600" cy="46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0" lang="it-IT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Il report presenta i risultati della </a:t>
            </a:r>
            <a:r>
              <a:rPr b="1" lang="it-IT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rilevazione della Cultura organizzativa percepita in ambito Health, Safety &amp; Environment (HSE)</a:t>
            </a:r>
            <a:r>
              <a:rPr b="0" lang="it-IT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– di seguito Cultura HSE – condotta nell’ambito del Laboratorio HSE della Scuola Superiore Sant’Anna (SSSA), tra gennaio e febbraio 2026. La rilevazione si è servita di un questionario sviluppato in collaborazione con i ricercatori dell’Istituto di Management della SSSA</a:t>
            </a:r>
            <a:r>
              <a:rPr b="1" lang="it-IT" sz="1400" strike="noStrike" u="none">
                <a:solidFill>
                  <a:schemeClr val="dk1"/>
                </a:solidFill>
                <a:effectLst/>
                <a:uFillTx/>
                <a:latin typeface="Arial Nova"/>
              </a:rPr>
              <a:t>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it-IT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Cos’è la Cultura HSE?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0" lang="it-IT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La Cultura HSE è una componente della cultura organizzativa che si riferisce a valori e credenze, agli individui, ai posti di lavoro e alle caratteristiche organizzative che influenzano la salute e la sicurezza dei dipendenti e l’ambiente. L'obiettivo di una cultura HSE positiva è creare un'atmosfera in cui i dipendenti siano consapevoli e responsabili dei rischi sul loro posto di lavoro, siano costantemente in guardia contro di loro ed evitino di intraprendere azioni non sicure.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it-IT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Come rilevare la Cultura HSE in azienda?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0" lang="it-IT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Lo sviluppo di un framework teorico di riferimento per la misurazione della Cultura HSE si è servito di una revisione sistemica della letteratura accademica e di ambito </a:t>
            </a:r>
            <a:r>
              <a:rPr b="0" i="1" lang="it-IT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practitioner</a:t>
            </a:r>
            <a:r>
              <a:rPr b="0" lang="it-IT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e consulenziale inerente la definizione e rilevazione della Cultura HSE. La revisione sistemica della letteratura è stata condotta sui principali database di pubblicazioni scientifiche e ha preso in esame 138 pubblicazioni.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6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27" name="Immagine 8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CasellaDiTesto 7"/>
          <p:cNvSpPr/>
          <p:nvPr/>
        </p:nvSpPr>
        <p:spPr>
          <a:xfrm>
            <a:off x="504360" y="230760"/>
            <a:ext cx="1002960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2800" strike="noStrike" u="none">
                <a:solidFill>
                  <a:srgbClr val="404040"/>
                </a:solidFill>
                <a:effectLst/>
                <a:uFillTx/>
                <a:latin typeface="Arial Nova Cond"/>
                <a:ea typeface="Malgun Gothic"/>
              </a:rPr>
              <a:t>La misurazione della Cultura HSE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Rettangolo 14"/>
          <p:cNvSpPr/>
          <p:nvPr/>
        </p:nvSpPr>
        <p:spPr>
          <a:xfrm>
            <a:off x="504360" y="897840"/>
            <a:ext cx="11163600" cy="19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L’approccio del LabHSE alla misurazione della Cultura HSE si focalizza sulle </a:t>
            </a:r>
            <a:r>
              <a:rPr b="1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manifestazioni esteriori di una Cultura HSE positiva </a:t>
            </a: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– nella forma di pratiche, iniziative, comportamenti, etc. –</a:t>
            </a:r>
            <a:r>
              <a:rPr b="1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 </a:t>
            </a: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sul luogo di lavoro, con l’obiettivo di identificare </a:t>
            </a:r>
            <a:r>
              <a:rPr b="1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ambiti di miglioramento </a:t>
            </a: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e </a:t>
            </a:r>
            <a:r>
              <a:rPr b="1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iniziative di rafforzamento mirate</a:t>
            </a: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Sulla base della revisione di più di 100 studi scientifici, il LabHSE ha definito un «</a:t>
            </a:r>
            <a:r>
              <a:rPr b="1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modello di misurazione» </a:t>
            </a: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o framework utile alla definizione della Cultura HSE in aziende caratterizzate da una </a:t>
            </a:r>
            <a:r>
              <a:rPr b="1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gestione HSE «matura»</a:t>
            </a: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, il quale si caratterizza per essere: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algn="just" defTabSz="914400">
              <a:lnSpc>
                <a:spcPct val="150000"/>
              </a:lnSpc>
              <a:spcAft>
                <a:spcPts val="601"/>
              </a:spcAft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1" i="1" lang="it-IT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Multi-dimensionale</a:t>
            </a: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in quanto prende in esame </a:t>
            </a:r>
            <a:r>
              <a:rPr b="1" lang="it-IT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8 dimensioni</a:t>
            </a: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lang="it-IT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della Cultura HSE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algn="just" defTabSz="914400">
              <a:lnSpc>
                <a:spcPct val="150000"/>
              </a:lnSpc>
              <a:spcAft>
                <a:spcPts val="601"/>
              </a:spcAft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1" i="1" lang="it-IT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Multi-livello</a:t>
            </a:r>
            <a:r>
              <a:rPr b="1" lang="it-IT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 quanto consente di distinguere tra diversi «</a:t>
            </a:r>
            <a:r>
              <a:rPr b="1" lang="it-IT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livelli di analisi</a:t>
            </a: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», ossia livello organizzativo e di workgroup (supervisore e coworkers)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0" name="Gruppo 3"/>
          <p:cNvGrpSpPr/>
          <p:nvPr/>
        </p:nvGrpSpPr>
        <p:grpSpPr>
          <a:xfrm>
            <a:off x="2180520" y="2883240"/>
            <a:ext cx="7811640" cy="3217320"/>
            <a:chOff x="2180520" y="2883240"/>
            <a:chExt cx="7811640" cy="3217320"/>
          </a:xfrm>
        </p:grpSpPr>
        <p:pic>
          <p:nvPicPr>
            <p:cNvPr id="231" name="Immagine 15" descr=""/>
            <p:cNvPicPr/>
            <p:nvPr/>
          </p:nvPicPr>
          <p:blipFill>
            <a:blip r:embed="rId2"/>
            <a:srcRect l="0" t="0" r="0" b="7888"/>
            <a:stretch/>
          </p:blipFill>
          <p:spPr>
            <a:xfrm>
              <a:off x="2180520" y="2883240"/>
              <a:ext cx="7811640" cy="3217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32" name="Immagine 1" descr=""/>
            <p:cNvPicPr/>
            <p:nvPr/>
          </p:nvPicPr>
          <p:blipFill>
            <a:blip r:embed="rId3"/>
            <a:stretch/>
          </p:blipFill>
          <p:spPr>
            <a:xfrm>
              <a:off x="3272400" y="4181400"/>
              <a:ext cx="1258560" cy="3499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33" name="Rettangolo 2"/>
            <p:cNvSpPr/>
            <p:nvPr/>
          </p:nvSpPr>
          <p:spPr>
            <a:xfrm>
              <a:off x="4310640" y="4181400"/>
              <a:ext cx="881640" cy="239400"/>
            </a:xfrm>
            <a:prstGeom prst="rect">
              <a:avLst/>
            </a:prstGeom>
            <a:solidFill>
              <a:srgbClr val="ffffc5"/>
            </a:solidFill>
            <a:ln>
              <a:solidFill>
                <a:srgbClr val="ffff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it-IT" sz="180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CasellaDiTesto 13"/>
          <p:cNvSpPr/>
          <p:nvPr/>
        </p:nvSpPr>
        <p:spPr>
          <a:xfrm>
            <a:off x="504360" y="876600"/>
            <a:ext cx="11163600" cy="738000"/>
          </a:xfrm>
          <a:prstGeom prst="rect">
            <a:avLst/>
          </a:prstGeom>
          <a:solidFill>
            <a:srgbClr val="effdff"/>
          </a:solidFill>
          <a:ln w="0">
            <a:solidFill>
              <a:srgbClr val="808080"/>
            </a:solidFill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Competenza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si riferisce alla percezione che l’azienda assicuri la presenza delle 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necessarie competenze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per svolgere il proprio lavoro in modo sicuro e dell’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efficacia dei programmi di formazione e di addestramento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relativi alla 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sicurezza sul lavoro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, alla 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gestione ambientale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e alle 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abilità lavorative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specifiche richieste dalla mansione.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5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sp>
        <p:nvSpPr>
          <p:cNvPr id="236" name="CasellaDiTesto 6"/>
          <p:cNvSpPr/>
          <p:nvPr/>
        </p:nvSpPr>
        <p:spPr>
          <a:xfrm>
            <a:off x="504360" y="230760"/>
            <a:ext cx="996552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2800" strike="noStrike" u="none">
                <a:solidFill>
                  <a:srgbClr val="404040"/>
                </a:solidFill>
                <a:effectLst/>
                <a:uFillTx/>
                <a:latin typeface="Arial Nova Cond"/>
                <a:ea typeface="Malgun Gothic"/>
              </a:rPr>
              <a:t>Le dimensioni: in quali ambiti si manifesta la Cultura HSE?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CasellaDiTesto 15"/>
          <p:cNvSpPr/>
          <p:nvPr/>
        </p:nvSpPr>
        <p:spPr>
          <a:xfrm>
            <a:off x="504360" y="1711440"/>
            <a:ext cx="11163600" cy="696960"/>
          </a:xfrm>
          <a:prstGeom prst="rect">
            <a:avLst/>
          </a:prstGeom>
          <a:solidFill>
            <a:srgbClr val="ffffc5"/>
          </a:solidFill>
          <a:ln w="0">
            <a:solidFill>
              <a:srgbClr val="808080"/>
            </a:solidFill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Priorità lavorative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si riferisce alla 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priorità assegnata alla sicurezza e alla gestione degli aspetti ambientali rispetto agli obiettivi di produzione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o altri obiettivi conflittuali (efficienza, profitto etc.), e alla pressione percepita relativamente al conseguimento degli obiettivi di produzione.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CasellaDiTesto 18"/>
          <p:cNvSpPr/>
          <p:nvPr/>
        </p:nvSpPr>
        <p:spPr>
          <a:xfrm>
            <a:off x="504360" y="2506680"/>
            <a:ext cx="11163600" cy="738000"/>
          </a:xfrm>
          <a:prstGeom prst="rect">
            <a:avLst/>
          </a:prstGeom>
          <a:solidFill>
            <a:srgbClr val="fadbc6"/>
          </a:solidFill>
          <a:ln w="0">
            <a:solidFill>
              <a:srgbClr val="808080"/>
            </a:solidFill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Post-accident administration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si riferisce a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ll’efficacia e tempestività della risposta organizzativa ad eventi accidentali o quasi accidentali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(e.g. infortuni, near miss etc.), in particolare in riferimento all’analisi dell’accadimento, alla correzione o trattamento delle cause e all’applicazione delle «</a:t>
            </a:r>
            <a:r>
              <a:rPr b="0" i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lesson learned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».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CasellaDiTesto 19"/>
          <p:cNvSpPr/>
          <p:nvPr/>
        </p:nvSpPr>
        <p:spPr>
          <a:xfrm>
            <a:off x="504360" y="3340440"/>
            <a:ext cx="11163600" cy="414720"/>
          </a:xfrm>
          <a:prstGeom prst="rect">
            <a:avLst/>
          </a:prstGeom>
          <a:solidFill>
            <a:srgbClr val="d7e7f5"/>
          </a:solidFill>
          <a:ln w="0">
            <a:solidFill>
              <a:srgbClr val="808080"/>
            </a:solidFill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Commitment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si riferisce alla 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dedizione e attenzione che la direzione,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e l’organizzazione nel suo complesso, 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ripone nel miglioramento della performance HSE.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CasellaDiTesto 35"/>
          <p:cNvSpPr/>
          <p:nvPr/>
        </p:nvSpPr>
        <p:spPr>
          <a:xfrm>
            <a:off x="504360" y="3850920"/>
            <a:ext cx="11163600" cy="738000"/>
          </a:xfrm>
          <a:prstGeom prst="rect">
            <a:avLst/>
          </a:prstGeom>
          <a:solidFill>
            <a:srgbClr val="f2e8f8"/>
          </a:solidFill>
          <a:ln w="0">
            <a:solidFill>
              <a:srgbClr val="808080"/>
            </a:solidFill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Comunicazione aperta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si riferisce a 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comunicazione interna e scambio informativo relativamente all’organizzazione del lavoro e degli aspetti HSE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, quali aggiornamenti delle procedure o di aspetti tecnici inerenti la propria mansione, segnalazione di nuovi rischi, feedback o suggerimenti.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1" name="Immagine 16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2" name="CasellaDiTesto 14"/>
          <p:cNvSpPr/>
          <p:nvPr/>
        </p:nvSpPr>
        <p:spPr>
          <a:xfrm>
            <a:off x="504360" y="4688640"/>
            <a:ext cx="11163600" cy="73800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solidFill>
              <a:srgbClr val="808080"/>
            </a:solidFill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Coinvolgimento del personale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si riferisce al 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coinvolgimento nel decision-making inerente l’organizzazione del lavoro e la gestione degli aspetti HSE,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nonché agli sforzi organizzativi e della direzione per attuare tale coinvolgimento.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CasellaDiTesto 17"/>
          <p:cNvSpPr/>
          <p:nvPr/>
        </p:nvSpPr>
        <p:spPr>
          <a:xfrm>
            <a:off x="504360" y="5526000"/>
            <a:ext cx="11163600" cy="414720"/>
          </a:xfrm>
          <a:prstGeom prst="rect">
            <a:avLst/>
          </a:prstGeom>
          <a:solidFill>
            <a:srgbClr val="ffd5f6"/>
          </a:solidFill>
          <a:ln w="0">
            <a:solidFill>
              <a:srgbClr val="808080"/>
            </a:solidFill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Sistema documentale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si riferisce a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ll’efficacia, chiarezza e completezza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delle procedure aziendali HSE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CasellaDiTesto 20"/>
          <p:cNvSpPr/>
          <p:nvPr/>
        </p:nvSpPr>
        <p:spPr>
          <a:xfrm>
            <a:off x="504360" y="6040440"/>
            <a:ext cx="11163600" cy="374040"/>
          </a:xfrm>
          <a:prstGeom prst="rect">
            <a:avLst/>
          </a:prstGeom>
          <a:solidFill>
            <a:srgbClr val="bddca8"/>
          </a:solidFill>
          <a:ln w="0">
            <a:solidFill>
              <a:srgbClr val="808080"/>
            </a:solidFill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Percezione della performance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si riferisce alla 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percezione della performance HSE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e alla capacità dell’azienda di fronteggiare eventi inattesi e imprevisti.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5" name="Connettore 1 2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sp>
        <p:nvSpPr>
          <p:cNvPr id="246" name="CasellaDiTesto 8"/>
          <p:cNvSpPr/>
          <p:nvPr/>
        </p:nvSpPr>
        <p:spPr>
          <a:xfrm>
            <a:off x="504360" y="230760"/>
            <a:ext cx="996552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2800" strike="noStrike" u="none">
                <a:solidFill>
                  <a:srgbClr val="404040"/>
                </a:solidFill>
                <a:effectLst/>
                <a:uFillTx/>
                <a:latin typeface="Arial Nova Cond"/>
                <a:ea typeface="Malgun Gothic"/>
              </a:rPr>
              <a:t>Come interpretare i risultati?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7" name="Immagine 5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Rettangolo 4"/>
          <p:cNvSpPr/>
          <p:nvPr/>
        </p:nvSpPr>
        <p:spPr>
          <a:xfrm>
            <a:off x="504360" y="969120"/>
            <a:ext cx="11163600" cy="274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914400">
              <a:lnSpc>
                <a:spcPct val="150000"/>
              </a:lnSpc>
              <a:spcAft>
                <a:spcPts val="1199"/>
              </a:spcAft>
              <a:buClr>
                <a:srgbClr val="000000"/>
              </a:buClr>
              <a:buFont typeface="Arial"/>
              <a:buChar char="•"/>
            </a:pP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Il </a:t>
            </a:r>
            <a:r>
              <a:rPr b="1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valore aggregato della Cultura HSE </a:t>
            </a: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è calcolato come la media aritmetica delle risposte ai quesiti del questionario nella sua interezza – i.e., tutte le dimensioni e livelli di analisi – al fine di costituire un indice univoco dello stato della Cultura HSE nell’azienda.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50000"/>
              </a:lnSpc>
              <a:spcAft>
                <a:spcPts val="1199"/>
              </a:spcAft>
              <a:buClr>
                <a:srgbClr val="000000"/>
              </a:buClr>
              <a:buFont typeface="Arial"/>
              <a:buChar char="•"/>
            </a:pP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Il </a:t>
            </a:r>
            <a:r>
              <a:rPr b="1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valore di ogni dimensione della Cultura HSE </a:t>
            </a: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è calcolato come la media delle risposte ai quesiti afferenti alla specifica dimensione della Cultura HSE. I valori delle dimensioni sono rappresentati in un grafico «a bersaglio» (a fianco), ove ad ogni vertice corrisponde una singola dimensione. E’ possibile in tal modo identificare a prima vista le dimensioni che costituiscono punti di forza o aree di miglioramento.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50000"/>
              </a:lnSpc>
              <a:spcAft>
                <a:spcPts val="1199"/>
              </a:spcAft>
              <a:buClr>
                <a:srgbClr val="000000"/>
              </a:buClr>
              <a:buFont typeface="Arial"/>
              <a:buChar char="•"/>
            </a:pP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Le domande del questionario sono basate su scale Likert di accordo a 6 punti (1 = «Totalmente in disaccordo» e 6 = «Totalmente in accordo»). Tuttavia, ai fini della rappresentazione grafica e della lettura dei risultati, i punteggi ottenuti sulla scala 1-6 sono stati ricondotti a una scala 1-100.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Aft>
                <a:spcPts val="1199"/>
              </a:spcAft>
            </a:pP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Il valore aggregato della Cultura HSE e il valore di ogni dimensione della Cultura HSE può essere interpretato come specificato in Tabella.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9" name="Tabella 3"/>
          <p:cNvGraphicFramePr/>
          <p:nvPr/>
        </p:nvGraphicFramePr>
        <p:xfrm>
          <a:off x="2090520" y="3931200"/>
          <a:ext cx="7991640" cy="2428920"/>
        </p:xfrm>
        <a:graphic>
          <a:graphicData uri="http://schemas.openxmlformats.org/drawingml/2006/table">
            <a:tbl>
              <a:tblPr/>
              <a:tblGrid>
                <a:gridCol w="2664000"/>
                <a:gridCol w="2664000"/>
                <a:gridCol w="2664000"/>
              </a:tblGrid>
              <a:tr h="3654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Valore degli indici (media)</a:t>
                      </a:r>
                      <a:br>
                        <a:rPr sz="1400"/>
                      </a:b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ad es. valore aggregato della Cultura HSE, valore delle singole dimensioni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Come si qualifica il valore</a:t>
                      </a: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, data la scala di misurazione utilizzata nel questionario?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Come interpretare il valore</a:t>
                      </a: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, in termini di percezione della Cultura HSE o di una sua dimensione?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708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&lt; 50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Basso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Migliorabile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708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50 – 77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Medio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Mediamente positiva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708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77 – 83,5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Medio-alto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Positiva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708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&gt; 83,5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Alto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Molto positiva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CasellaDiTesto 38"/>
          <p:cNvSpPr/>
          <p:nvPr/>
        </p:nvSpPr>
        <p:spPr>
          <a:xfrm>
            <a:off x="504360" y="167400"/>
            <a:ext cx="9321480" cy="73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Il campione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1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52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3" name="CasellaDiTesto 12"/>
          <p:cNvSpPr/>
          <p:nvPr/>
        </p:nvSpPr>
        <p:spPr>
          <a:xfrm>
            <a:off x="504360" y="981720"/>
            <a:ext cx="11163600" cy="78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it-IT" sz="1600" strike="noStrike" u="none">
                <a:solidFill>
                  <a:schemeClr val="dk1"/>
                </a:solidFill>
                <a:effectLst/>
                <a:uFillTx/>
                <a:latin typeface="Arial Nova"/>
              </a:rPr>
              <a:t>Tra gennaio e febbraio 2026, </a:t>
            </a:r>
            <a:r>
              <a:rPr b="1" lang="it-IT" sz="1600" strike="noStrike" u="non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Arial Nova"/>
              </a:rPr>
              <a:t>XXX</a:t>
            </a:r>
            <a:r>
              <a:rPr b="1" lang="it-IT" sz="1600" strike="noStrike" u="none">
                <a:solidFill>
                  <a:schemeClr val="dk1"/>
                </a:solidFill>
                <a:effectLst/>
                <a:uFillTx/>
                <a:latin typeface="Arial Nova"/>
              </a:rPr>
              <a:t> persone hanno compilato integralmente il questionario</a:t>
            </a:r>
            <a:r>
              <a:rPr b="0" lang="it-IT" sz="1600" strike="noStrike" u="none">
                <a:solidFill>
                  <a:schemeClr val="dk1"/>
                </a:solidFill>
                <a:effectLst/>
                <a:uFillTx/>
                <a:latin typeface="Arial Nova"/>
              </a:rPr>
              <a:t>, e sono oggetto dell’analisi presentata nel report.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CasellaDiTesto 38"/>
          <p:cNvSpPr/>
          <p:nvPr/>
        </p:nvSpPr>
        <p:spPr>
          <a:xfrm>
            <a:off x="504360" y="167400"/>
            <a:ext cx="9321480" cy="73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La Cultura HSE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5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56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7" name="Picture 25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1200" y="1418400"/>
            <a:ext cx="5767200" cy="4550400"/>
          </a:xfrm>
          <a:prstGeom prst="rect">
            <a:avLst/>
          </a:prstGeom>
        </p:spPr>
      </p:pic>
      <p:sp>
        <p:nvSpPr>
          <p:cNvPr id="258" name="TextBox 257"/>
          <p:cNvSpPr txBox="1"/>
          <p:nvPr/>
        </p:nvSpPr>
        <p:spPr>
          <a:xfrm>
            <a:off x="503999" y="1069200"/>
            <a:ext cx="54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F1F1F"/>
                </a:solidFill>
                <a:latin typeface="DejaVu Sans"/>
              </a:rPr>
              <a:t>La Cultura HSE - valore aggregato: 83.85/100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CasellaDiTesto 38"/>
          <p:cNvSpPr/>
          <p:nvPr/>
        </p:nvSpPr>
        <p:spPr>
          <a:xfrm>
            <a:off x="504360" y="167400"/>
            <a:ext cx="9321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I livelli di analisi: </a:t>
            </a:r>
            <a:r>
              <a:rPr b="1" i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organizational, supevisor, co-worker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8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59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0" name="Picture 25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70000"/>
            <a:ext cx="11260800" cy="4517065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CasellaDiTesto 38"/>
          <p:cNvSpPr/>
          <p:nvPr/>
        </p:nvSpPr>
        <p:spPr>
          <a:xfrm>
            <a:off x="504360" y="167400"/>
            <a:ext cx="9321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Comunicazione interna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1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62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3" name="Picture 26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9" y="1274400"/>
            <a:ext cx="11376000" cy="4558887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CasellaDiTesto 38"/>
          <p:cNvSpPr/>
          <p:nvPr/>
        </p:nvSpPr>
        <p:spPr>
          <a:xfrm>
            <a:off x="504360" y="167400"/>
            <a:ext cx="9321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Analisi per funzione – Comunicazione interna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4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65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6" name="Picture 26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2400" y="1472400"/>
            <a:ext cx="6912000" cy="3910992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CasellaDiTesto 38"/>
          <p:cNvSpPr/>
          <p:nvPr/>
        </p:nvSpPr>
        <p:spPr>
          <a:xfrm>
            <a:off x="504360" y="167400"/>
            <a:ext cx="9321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Coinvolgimento del personale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7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68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9" name="Picture 26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9" y="1274400"/>
            <a:ext cx="11376000" cy="4558887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CasellaDiTesto 38"/>
          <p:cNvSpPr/>
          <p:nvPr/>
        </p:nvSpPr>
        <p:spPr>
          <a:xfrm>
            <a:off x="504360" y="167400"/>
            <a:ext cx="959652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Analisi per funzione – Coinvolgimento del personale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0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71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2" name="Picture 27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2400" y="1472400"/>
            <a:ext cx="6912000" cy="3910992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CasellaDiTesto 38"/>
          <p:cNvSpPr/>
          <p:nvPr/>
        </p:nvSpPr>
        <p:spPr>
          <a:xfrm>
            <a:off x="504360" y="167400"/>
            <a:ext cx="9321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Priorità lavorative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3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74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5" name="Picture 27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9" y="1274400"/>
            <a:ext cx="11376000" cy="4664978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CasellaDiTesto 38"/>
          <p:cNvSpPr/>
          <p:nvPr/>
        </p:nvSpPr>
        <p:spPr>
          <a:xfrm>
            <a:off x="504360" y="167400"/>
            <a:ext cx="9321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Analisi per funzione – Priorità lavorative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6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77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8" name="Picture 27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2400" y="1472400"/>
            <a:ext cx="6912000" cy="3910992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CasellaDiTesto 38"/>
          <p:cNvSpPr/>
          <p:nvPr/>
        </p:nvSpPr>
        <p:spPr>
          <a:xfrm>
            <a:off x="504360" y="167400"/>
            <a:ext cx="9321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Risposta organizzativa agli eventi incidentali e near miss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9" name="Connettore 1 37"/>
          <p:cNvCxnSpPr/>
          <p:nvPr/>
        </p:nvCxnSpPr>
        <p:spPr>
          <a:xfrm>
            <a:off x="504360" y="94032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80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1" name="Picture 28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9" y="1274400"/>
            <a:ext cx="11376000" cy="4558887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CasellaDiTesto 38"/>
          <p:cNvSpPr/>
          <p:nvPr/>
        </p:nvSpPr>
        <p:spPr>
          <a:xfrm>
            <a:off x="504360" y="167400"/>
            <a:ext cx="9321480" cy="10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Analisi per funzione – Risposta organizzativa agli eventi incidentali e near miss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2" name="Connettore 1 37"/>
          <p:cNvCxnSpPr/>
          <p:nvPr/>
        </p:nvCxnSpPr>
        <p:spPr>
          <a:xfrm>
            <a:off x="504360" y="124452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83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4" name="Picture 28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2400" y="1472400"/>
            <a:ext cx="6912000" cy="3910992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CasellaDiTesto 38"/>
          <p:cNvSpPr/>
          <p:nvPr/>
        </p:nvSpPr>
        <p:spPr>
          <a:xfrm>
            <a:off x="504360" y="167400"/>
            <a:ext cx="9321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Impegno aziendale nel miglioramento delle prestazioni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5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86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7" name="Picture 28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9" y="1274400"/>
            <a:ext cx="11376000" cy="4558887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CasellaDiTesto 38"/>
          <p:cNvSpPr/>
          <p:nvPr/>
        </p:nvSpPr>
        <p:spPr>
          <a:xfrm>
            <a:off x="504360" y="167400"/>
            <a:ext cx="9321480" cy="10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Analisi per funzione – Impegno aziendale nel miglioramento delle prestazioni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8" name="Connettore 1 37"/>
          <p:cNvCxnSpPr/>
          <p:nvPr/>
        </p:nvCxnSpPr>
        <p:spPr>
          <a:xfrm>
            <a:off x="504360" y="124452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89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0" name="Picture 28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2400" y="1472400"/>
            <a:ext cx="6912000" cy="3910992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CasellaDiTesto 38"/>
          <p:cNvSpPr/>
          <p:nvPr/>
        </p:nvSpPr>
        <p:spPr>
          <a:xfrm>
            <a:off x="504360" y="167400"/>
            <a:ext cx="9321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Formazione e competenza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1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92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3" name="Picture 29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9" y="1274400"/>
            <a:ext cx="11376000" cy="4558887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CasellaDiTesto 38"/>
          <p:cNvSpPr/>
          <p:nvPr/>
        </p:nvSpPr>
        <p:spPr>
          <a:xfrm>
            <a:off x="504360" y="167400"/>
            <a:ext cx="9321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Analisi per funzione – Formazione e competenza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4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95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6" name="Picture 29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2400" y="1472400"/>
            <a:ext cx="6912000" cy="3910992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CasellaDiTesto 38"/>
          <p:cNvSpPr/>
          <p:nvPr/>
        </p:nvSpPr>
        <p:spPr>
          <a:xfrm>
            <a:off x="504360" y="167400"/>
            <a:ext cx="9321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Percezione della performance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7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98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9" name="Picture 29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9" y="1274400"/>
            <a:ext cx="11376000" cy="2409784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CasellaDiTesto 38"/>
          <p:cNvSpPr/>
          <p:nvPr/>
        </p:nvSpPr>
        <p:spPr>
          <a:xfrm>
            <a:off x="504360" y="167400"/>
            <a:ext cx="962244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Analisi per funzione – Percezione della performance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0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301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2" name="Picture 30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2400" y="1472400"/>
            <a:ext cx="6912000" cy="3910992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CasellaDiTesto 38"/>
          <p:cNvSpPr/>
          <p:nvPr/>
        </p:nvSpPr>
        <p:spPr>
          <a:xfrm>
            <a:off x="504360" y="167400"/>
            <a:ext cx="9321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Sistema documentale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3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304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5" name="Picture 30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9" y="1274400"/>
            <a:ext cx="11376000" cy="2518906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CasellaDiTesto 38"/>
          <p:cNvSpPr/>
          <p:nvPr/>
        </p:nvSpPr>
        <p:spPr>
          <a:xfrm>
            <a:off x="504360" y="167400"/>
            <a:ext cx="9321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Analisi per funzione – Sistema documentale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6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307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8" name="Picture 30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2400" y="1472400"/>
            <a:ext cx="6912000" cy="3910992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9" name="CasellaDiTesto 5"/>
          <p:cNvSpPr/>
          <p:nvPr/>
        </p:nvSpPr>
        <p:spPr>
          <a:xfrm>
            <a:off x="395280" y="189000"/>
            <a:ext cx="9321480" cy="83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Punti di forza e aree di miglioramento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0" name="Picture 12" descr=""/>
          <p:cNvPicPr/>
          <p:nvPr/>
        </p:nvPicPr>
        <p:blipFill>
          <a:blip r:embed="rId2"/>
          <a:stretch/>
        </p:blipFill>
        <p:spPr>
          <a:xfrm>
            <a:off x="2842200" y="1321200"/>
            <a:ext cx="603720" cy="60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1" name="Picture 13" descr=""/>
          <p:cNvPicPr/>
          <p:nvPr/>
        </p:nvPicPr>
        <p:blipFill>
          <a:blip r:embed="rId3"/>
          <a:stretch/>
        </p:blipFill>
        <p:spPr>
          <a:xfrm>
            <a:off x="8642520" y="1321200"/>
            <a:ext cx="603720" cy="6037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12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sp>
        <p:nvSpPr>
          <p:cNvPr id="313" name="CasellaDiTesto 3"/>
          <p:cNvSpPr/>
          <p:nvPr/>
        </p:nvSpPr>
        <p:spPr>
          <a:xfrm>
            <a:off x="6450840" y="2137680"/>
            <a:ext cx="5399280" cy="10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lvl="1" marL="285840" indent="-285840" defTabSz="914400">
              <a:lnSpc>
                <a:spcPct val="110000"/>
              </a:lnSpc>
              <a:spcAft>
                <a:spcPts val="601"/>
              </a:spcAft>
              <a:buClr>
                <a:srgbClr val="ffc000"/>
              </a:buClr>
              <a:buFont typeface="Wingdings" charset="2"/>
              <a:buChar char="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Le dimensioni in cui la Cultura HSE risulta migliorabile sono «</a:t>
            </a:r>
            <a:r>
              <a:rPr b="1" lang="it-IT" sz="1800" strike="noStrike" u="non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Arial"/>
              </a:rPr>
              <a:t>XXX</a:t>
            </a: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» e «</a:t>
            </a:r>
            <a:r>
              <a:rPr b="1" lang="it-IT" sz="1800" strike="noStrike" u="non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Arial"/>
              </a:rPr>
              <a:t>xxx</a:t>
            </a: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285840" indent="-285840" defTabSz="914400">
              <a:lnSpc>
                <a:spcPct val="110000"/>
              </a:lnSpc>
              <a:spcAft>
                <a:spcPts val="601"/>
              </a:spcAft>
              <a:buClr>
                <a:srgbClr val="ffc000"/>
              </a:buClr>
              <a:buFont typeface="Wingdings" charset="2"/>
              <a:buChar char="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xxx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140"/>
          <p:cNvSpPr/>
          <p:nvPr/>
        </p:nvSpPr>
        <p:spPr>
          <a:xfrm>
            <a:off x="502920" y="2137680"/>
            <a:ext cx="5399280" cy="14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6800" rIns="46800" tIns="46800" bIns="46800" anchor="t">
            <a:spAutoFit/>
          </a:bodyPr>
          <a:p>
            <a:pPr lvl="1" marL="228600" indent="-228600" defTabSz="1111320">
              <a:lnSpc>
                <a:spcPct val="110000"/>
              </a:lnSpc>
              <a:spcAft>
                <a:spcPts val="601"/>
              </a:spcAft>
              <a:buClr>
                <a:srgbClr val="00b050"/>
              </a:buClr>
              <a:buFont typeface="Wingdings" charset="2"/>
              <a:buChar char="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 cultura HSE in </a:t>
            </a:r>
            <a:r>
              <a:rPr b="0" lang="it-IT" sz="1800" strike="noStrike" u="none"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Arial"/>
              </a:rPr>
              <a:t>XXX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risulta </a:t>
            </a:r>
            <a:r>
              <a:rPr b="0" lang="it-IT" sz="1800" strike="noStrike" u="none"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Arial"/>
              </a:rPr>
              <a:t>molto positiva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228600" indent="-228600" defTabSz="1111320">
              <a:lnSpc>
                <a:spcPct val="110000"/>
              </a:lnSpc>
              <a:spcAft>
                <a:spcPts val="601"/>
              </a:spcAft>
              <a:buClr>
                <a:srgbClr val="00b050"/>
              </a:buClr>
              <a:buFont typeface="Wingdings" charset="2"/>
              <a:buChar char="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 dimensioni in cui la Cultura HSE risulta maggiormente positiva sono «</a:t>
            </a:r>
            <a:r>
              <a:rPr b="1" lang="it-IT" sz="1800" strike="noStrike" u="none"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Arial"/>
              </a:rPr>
              <a:t>XXX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» e «</a:t>
            </a:r>
            <a:r>
              <a:rPr b="1" lang="it-IT" sz="1800" strike="noStrike" u="none"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Arial"/>
              </a:rPr>
              <a:t>XXX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».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228600" indent="-228600" defTabSz="1111320">
              <a:lnSpc>
                <a:spcPct val="110000"/>
              </a:lnSpc>
              <a:spcAft>
                <a:spcPts val="601"/>
              </a:spcAft>
              <a:buClr>
                <a:srgbClr val="00b050"/>
              </a:buClr>
              <a:buFont typeface="Wingdings" charset="2"/>
              <a:buChar char="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xxxx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6" name="CasellaDiTesto 5"/>
          <p:cNvSpPr/>
          <p:nvPr/>
        </p:nvSpPr>
        <p:spPr>
          <a:xfrm>
            <a:off x="504360" y="198000"/>
            <a:ext cx="9321480" cy="75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Raccomandazioni per il miglioramento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7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sp>
        <p:nvSpPr>
          <p:cNvPr id="318" name="Rettangolo 3"/>
          <p:cNvSpPr/>
          <p:nvPr/>
        </p:nvSpPr>
        <p:spPr>
          <a:xfrm>
            <a:off x="504360" y="875160"/>
            <a:ext cx="11163600" cy="33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6040" indent="-171360" defTabSz="914400">
              <a:lnSpc>
                <a:spcPct val="15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it-IT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xxxxx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itolo e punti elenco - 2 colonne">
  <a:themeElements>
    <a:clrScheme name="Tema di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ma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ema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DD22ECCB0C3443BAAF89C3691CE34B" ma:contentTypeVersion="14" ma:contentTypeDescription="Create a new document." ma:contentTypeScope="" ma:versionID="f302cd39c70a246bd3264812e8dd5ec3">
  <xsd:schema xmlns:xsd="http://www.w3.org/2001/XMLSchema" xmlns:xs="http://www.w3.org/2001/XMLSchema" xmlns:p="http://schemas.microsoft.com/office/2006/metadata/properties" xmlns:ns3="0f01c6e1-cc10-499c-b6f6-267d4024d6e2" xmlns:ns4="9a135393-16df-4691-a520-74c834efda9b" targetNamespace="http://schemas.microsoft.com/office/2006/metadata/properties" ma:root="true" ma:fieldsID="76d0c373b4d047e412288bf1bc09019e" ns3:_="" ns4:_="">
    <xsd:import namespace="0f01c6e1-cc10-499c-b6f6-267d4024d6e2"/>
    <xsd:import namespace="9a135393-16df-4691-a520-74c834efda9b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01c6e1-cc10-499c-b6f6-267d4024d6e2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135393-16df-4691-a520-74c834efda9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f01c6e1-cc10-499c-b6f6-267d4024d6e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12BB379-5C3F-4064-81AE-CFE809476A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f01c6e1-cc10-499c-b6f6-267d4024d6e2"/>
    <ds:schemaRef ds:uri="9a135393-16df-4691-a520-74c834efda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8B7170C-4ECE-4A3F-B362-F53BCBE58A60}">
  <ds:schemaRefs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9a135393-16df-4691-a520-74c834efda9b"/>
    <ds:schemaRef ds:uri="http://schemas.openxmlformats.org/package/2006/metadata/core-properties"/>
    <ds:schemaRef ds:uri="http://www.w3.org/XML/1998/namespace"/>
    <ds:schemaRef ds:uri="0f01c6e1-cc10-499c-b6f6-267d4024d6e2"/>
    <ds:schemaRef ds:uri="http://purl.org/dc/dcmitype/"/>
    <ds:schemaRef ds:uri="http://purl.org/dc/terms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08BCC0F5-118F-4D2B-84B2-B2936F67420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964</TotalTime>
  <Application>LibreOffice/25.2.3.2$Linux_X86_64 LibreOffice_project/bbb074479178df812d175f709636b368952c2ce3</Application>
  <AppVersion>15.0000</AppVersion>
  <Words>1189</Words>
  <Paragraphs>75</Paragraphs>
  <Company>HP Inc.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2020-01-31T12:03:15Z</dcterms:created>
  <dc:creator>Niccolò Todaro</dc:creator>
  <dc:description/>
  <dc:language>en-US</dc:language>
  <cp:lastModifiedBy/>
  <dcterms:modified xsi:type="dcterms:W3CDTF">2026-03-11T17:05:14Z</dcterms:modified>
  <cp:revision>195</cp:revision>
  <dc:subject/>
  <dc:title>Presentazione standard di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0x01010024DD22ECCB0C3443BAAF89C3691CE34B</vt:lpwstr>
  </property>
  <property fmtid="{D5CDD505-2E9C-101B-9397-08002B2CF9AE}" pid="3" name="Notes">
    <vt:i4>27</vt:i4>
  </property>
  <property fmtid="{D5CDD505-2E9C-101B-9397-08002B2CF9AE}" pid="4" name="PresentationFormat">
    <vt:lpwstr>Widescreen</vt:lpwstr>
  </property>
  <property fmtid="{D5CDD505-2E9C-101B-9397-08002B2CF9AE}" pid="5" name="Slides">
    <vt:i4>27</vt:i4>
  </property>
</Properties>
</file>